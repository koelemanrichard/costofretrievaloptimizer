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www\cost-of-retreival-reducer\tmp\presentation\slides\brightlot-dark.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137160" cy="5143500"/>
          </a:xfrm>
          <a:prstGeom prst="rect">
            <a:avLst/>
          </a:prstGeom>
          <a:solidFill>
            <a:srgbClr val="FE3B1F"/>
          </a:solidFill>
          <a:ln/>
        </p:spPr>
      </p:sp>
      <p:sp>
        <p:nvSpPr>
          <p:cNvPr id="4" name="Text 1"/>
          <p:cNvSpPr/>
          <p:nvPr/>
        </p:nvSpPr>
        <p:spPr>
          <a:xfrm>
            <a:off x="457200" y="1188720"/>
            <a:ext cx="8229600" cy="640080"/>
          </a:xfrm>
          <a:prstGeom prst="rect">
            <a:avLst/>
          </a:prstGeom>
          <a:noFill/>
          <a:ln/>
        </p:spPr>
        <p:txBody>
          <a:bodyPr wrap="square" rtlCol="0" anchor="ctr"/>
          <a:lstStyle/>
          <a:p>
            <a:pPr algn="ctr" indent="0" marL="0">
              <a:buNone/>
            </a:pPr>
            <a:r>
              <a:rPr lang="en-US" sz="3800" b="1" dirty="0">
                <a:solidFill>
                  <a:srgbClr val="FFFFFF"/>
                </a:solidFill>
                <a:latin typeface="Arial" pitchFamily="34" charset="0"/>
                <a:ea typeface="Arial" pitchFamily="34" charset="-122"/>
                <a:cs typeface="Arial" pitchFamily="34" charset="-120"/>
              </a:rPr>
              <a:t>HOLISTIC SEO WORKBENCH</a:t>
            </a:r>
            <a:endParaRPr lang="en-US" sz="3800" dirty="0"/>
          </a:p>
        </p:txBody>
      </p:sp>
      <p:sp>
        <p:nvSpPr>
          <p:cNvPr id="5" name="Text 2"/>
          <p:cNvSpPr/>
          <p:nvPr/>
        </p:nvSpPr>
        <p:spPr>
          <a:xfrm>
            <a:off x="457200" y="1828800"/>
            <a:ext cx="8229600" cy="365760"/>
          </a:xfrm>
          <a:prstGeom prst="rect">
            <a:avLst/>
          </a:prstGeom>
          <a:noFill/>
          <a:ln/>
        </p:spPr>
        <p:txBody>
          <a:bodyPr wrap="square" rtlCol="0" anchor="ctr"/>
          <a:lstStyle/>
          <a:p>
            <a:pPr algn="ctr" indent="0" marL="0">
              <a:buNone/>
            </a:pPr>
            <a:r>
              <a:rPr lang="en-US" sz="1600" dirty="0">
                <a:solidFill>
                  <a:srgbClr val="6B7280"/>
                </a:solidFill>
                <a:latin typeface="Arial" pitchFamily="34" charset="0"/>
                <a:ea typeface="Arial" pitchFamily="34" charset="-122"/>
                <a:cs typeface="Arial" pitchFamily="34" charset="-120"/>
              </a:rPr>
              <a:t>voor</a:t>
            </a:r>
            <a:endParaRPr lang="en-US" sz="1600" dirty="0"/>
          </a:p>
        </p:txBody>
      </p:sp>
      <p:sp>
        <p:nvSpPr>
          <p:cNvPr id="6" name="Text 3"/>
          <p:cNvSpPr/>
          <p:nvPr/>
        </p:nvSpPr>
        <p:spPr>
          <a:xfrm>
            <a:off x="457200" y="2148840"/>
            <a:ext cx="8229600" cy="640080"/>
          </a:xfrm>
          <a:prstGeom prst="rect">
            <a:avLst/>
          </a:prstGeom>
          <a:noFill/>
          <a:ln/>
        </p:spPr>
        <p:txBody>
          <a:bodyPr wrap="square" rtlCol="0" anchor="ctr"/>
          <a:lstStyle/>
          <a:p>
            <a:pPr algn="ctr" indent="0" marL="0">
              <a:buNone/>
            </a:pPr>
            <a:r>
              <a:rPr lang="en-US" sz="4200" b="1" dirty="0">
                <a:solidFill>
                  <a:srgbClr val="FE3B1F"/>
                </a:solidFill>
                <a:latin typeface="Arial" pitchFamily="34" charset="0"/>
                <a:ea typeface="Arial" pitchFamily="34" charset="-122"/>
                <a:cs typeface="Arial" pitchFamily="34" charset="-120"/>
              </a:rPr>
              <a:t>BRIGHTLOT</a:t>
            </a:r>
            <a:endParaRPr lang="en-US" sz="4200" dirty="0"/>
          </a:p>
        </p:txBody>
      </p:sp>
      <p:sp>
        <p:nvSpPr>
          <p:cNvPr id="7" name="Shape 4"/>
          <p:cNvSpPr/>
          <p:nvPr/>
        </p:nvSpPr>
        <p:spPr>
          <a:xfrm>
            <a:off x="3200400" y="3017520"/>
            <a:ext cx="2743200" cy="54864"/>
          </a:xfrm>
          <a:prstGeom prst="rect">
            <a:avLst/>
          </a:prstGeom>
          <a:solidFill>
            <a:srgbClr val="FE3B1F"/>
          </a:solidFill>
          <a:ln/>
        </p:spPr>
      </p:sp>
      <p:sp>
        <p:nvSpPr>
          <p:cNvPr id="8" name="Text 5"/>
          <p:cNvSpPr/>
          <p:nvPr/>
        </p:nvSpPr>
        <p:spPr>
          <a:xfrm>
            <a:off x="457200" y="3291840"/>
            <a:ext cx="8229600" cy="365760"/>
          </a:xfrm>
          <a:prstGeom prst="rect">
            <a:avLst/>
          </a:prstGeom>
          <a:noFill/>
          <a:ln/>
        </p:spPr>
        <p:txBody>
          <a:bodyPr wrap="square" rtlCol="0" anchor="ctr"/>
          <a:lstStyle/>
          <a:p>
            <a:pPr algn="ctr" indent="0" marL="0">
              <a:buNone/>
            </a:pPr>
            <a:r>
              <a:rPr lang="en-US" sz="1800" dirty="0">
                <a:solidFill>
                  <a:srgbClr val="FFFFFF"/>
                </a:solidFill>
                <a:latin typeface="Arial" pitchFamily="34" charset="0"/>
                <a:ea typeface="Arial" pitchFamily="34" charset="-122"/>
                <a:cs typeface="Arial" pitchFamily="34" charset="-120"/>
              </a:rPr>
              <a:t>Meer bezoekers. Meer leads. Meer verkoop.</a:t>
            </a:r>
            <a:endParaRPr lang="en-US" sz="1800" dirty="0"/>
          </a:p>
        </p:txBody>
      </p:sp>
      <p:sp>
        <p:nvSpPr>
          <p:cNvPr id="9" name="Text 6"/>
          <p:cNvSpPr/>
          <p:nvPr/>
        </p:nvSpPr>
        <p:spPr>
          <a:xfrm>
            <a:off x="457200" y="3749040"/>
            <a:ext cx="8229600" cy="274320"/>
          </a:xfrm>
          <a:prstGeom prst="rect">
            <a:avLst/>
          </a:prstGeom>
          <a:noFill/>
          <a:ln/>
        </p:spPr>
        <p:txBody>
          <a:bodyPr wrap="square" rtlCol="0" anchor="ctr"/>
          <a:lstStyle/>
          <a:p>
            <a:pPr algn="ctr" indent="0" marL="0">
              <a:buNone/>
            </a:pPr>
            <a:r>
              <a:rPr lang="en-US" sz="1200" dirty="0">
                <a:solidFill>
                  <a:srgbClr val="6B7280"/>
                </a:solidFill>
                <a:latin typeface="Arial" pitchFamily="34" charset="0"/>
                <a:ea typeface="Arial" pitchFamily="34" charset="-122"/>
                <a:cs typeface="Arial" pitchFamily="34" charset="-120"/>
              </a:rPr>
              <a:t>AI-gedreven content strategie voor vastgoedmarketing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www\cost-of-retreival-reducer\tmp\presentation\slides\brightlot-dark.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137160" cy="5143500"/>
          </a:xfrm>
          <a:prstGeom prst="rect">
            <a:avLst/>
          </a:prstGeom>
          <a:solidFill>
            <a:srgbClr val="FE3B1F"/>
          </a:solidFill>
          <a:ln/>
        </p:spPr>
      </p:sp>
      <p:sp>
        <p:nvSpPr>
          <p:cNvPr id="4" name="Text 1"/>
          <p:cNvSpPr/>
          <p:nvPr/>
        </p:nvSpPr>
        <p:spPr>
          <a:xfrm>
            <a:off x="457200" y="274320"/>
            <a:ext cx="8229600" cy="457200"/>
          </a:xfrm>
          <a:prstGeom prst="rect">
            <a:avLst/>
          </a:prstGeom>
          <a:noFill/>
          <a:ln/>
        </p:spPr>
        <p:txBody>
          <a:bodyPr wrap="square" rtlCol="0" anchor="ctr"/>
          <a:lstStyle/>
          <a:p>
            <a:pPr algn="ctr" indent="0" marL="0">
              <a:buNone/>
            </a:pPr>
            <a:r>
              <a:rPr lang="en-US" sz="2800" b="1" dirty="0">
                <a:solidFill>
                  <a:srgbClr val="FE3B1F"/>
                </a:solidFill>
                <a:latin typeface="Arial" pitchFamily="34" charset="0"/>
                <a:ea typeface="Arial" pitchFamily="34" charset="-122"/>
                <a:cs typeface="Arial" pitchFamily="34" charset="-120"/>
              </a:rPr>
              <a:t>DE UITDAGING</a:t>
            </a:r>
            <a:endParaRPr lang="en-US" sz="2800" dirty="0"/>
          </a:p>
        </p:txBody>
      </p:sp>
      <p:sp>
        <p:nvSpPr>
          <p:cNvPr id="5" name="Text 2"/>
          <p:cNvSpPr/>
          <p:nvPr/>
        </p:nvSpPr>
        <p:spPr>
          <a:xfrm>
            <a:off x="457200" y="685800"/>
            <a:ext cx="8229600" cy="274320"/>
          </a:xfrm>
          <a:prstGeom prst="rect">
            <a:avLst/>
          </a:prstGeom>
          <a:noFill/>
          <a:ln/>
        </p:spPr>
        <p:txBody>
          <a:bodyPr wrap="square" rtlCol="0" anchor="ctr"/>
          <a:lstStyle/>
          <a:p>
            <a:pPr algn="ctr" indent="0" marL="0">
              <a:buNone/>
            </a:pPr>
            <a:r>
              <a:rPr lang="en-US" sz="1200" dirty="0">
                <a:solidFill>
                  <a:srgbClr val="6B7280"/>
                </a:solidFill>
                <a:latin typeface="Arial" pitchFamily="34" charset="0"/>
                <a:ea typeface="Arial" pitchFamily="34" charset="-122"/>
                <a:cs typeface="Arial" pitchFamily="34" charset="-120"/>
              </a:rPr>
              <a:t>Waarom vastgoedprojecten online onzichtbaar blijven</a:t>
            </a:r>
            <a:endParaRPr lang="en-US" sz="1200" dirty="0"/>
          </a:p>
        </p:txBody>
      </p:sp>
      <p:sp>
        <p:nvSpPr>
          <p:cNvPr id="6" name="Shape 3"/>
          <p:cNvSpPr/>
          <p:nvPr/>
        </p:nvSpPr>
        <p:spPr>
          <a:xfrm>
            <a:off x="731520" y="1097280"/>
            <a:ext cx="7680960" cy="777240"/>
          </a:xfrm>
          <a:prstGeom prst="roundRect">
            <a:avLst>
              <a:gd name="adj" fmla="val 9412"/>
            </a:avLst>
          </a:prstGeom>
          <a:solidFill>
            <a:srgbClr val="243B42"/>
          </a:solidFill>
          <a:ln w="12700">
            <a:solidFill>
              <a:srgbClr val="FE3B1F"/>
            </a:solidFill>
            <a:prstDash val="solid"/>
          </a:ln>
        </p:spPr>
      </p:sp>
      <p:sp>
        <p:nvSpPr>
          <p:cNvPr id="7" name="Text 4"/>
          <p:cNvSpPr/>
          <p:nvPr/>
        </p:nvSpPr>
        <p:spPr>
          <a:xfrm>
            <a:off x="914400" y="1207008"/>
            <a:ext cx="6858000" cy="32004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Projectwebsites die niet gevonden worden</a:t>
            </a:r>
            <a:endParaRPr lang="en-US" sz="1400" dirty="0"/>
          </a:p>
        </p:txBody>
      </p:sp>
      <p:sp>
        <p:nvSpPr>
          <p:cNvPr id="8" name="Text 5"/>
          <p:cNvSpPr/>
          <p:nvPr/>
        </p:nvSpPr>
        <p:spPr>
          <a:xfrm>
            <a:off x="914400" y="1527048"/>
            <a:ext cx="6858000" cy="274320"/>
          </a:xfrm>
          <a:prstGeom prst="rect">
            <a:avLst/>
          </a:prstGeom>
          <a:noFill/>
          <a:ln/>
        </p:spPr>
        <p:txBody>
          <a:bodyPr wrap="square" rtlCol="0" anchor="ctr"/>
          <a:lstStyle/>
          <a:p>
            <a:pPr indent="0" marL="0">
              <a:buNone/>
            </a:pPr>
            <a:r>
              <a:rPr lang="en-US" sz="1100" dirty="0">
                <a:solidFill>
                  <a:srgbClr val="6B7280"/>
                </a:solidFill>
                <a:latin typeface="Arial" pitchFamily="34" charset="0"/>
                <a:ea typeface="Arial" pitchFamily="34" charset="-122"/>
                <a:cs typeface="Arial" pitchFamily="34" charset="-120"/>
              </a:rPr>
              <a:t>Google toont concurrenten of Funda in plaats van uw project</a:t>
            </a:r>
            <a:endParaRPr lang="en-US" sz="1100" dirty="0"/>
          </a:p>
        </p:txBody>
      </p:sp>
      <p:sp>
        <p:nvSpPr>
          <p:cNvPr id="9" name="Shape 6"/>
          <p:cNvSpPr/>
          <p:nvPr/>
        </p:nvSpPr>
        <p:spPr>
          <a:xfrm>
            <a:off x="731520" y="2011680"/>
            <a:ext cx="7680960" cy="777240"/>
          </a:xfrm>
          <a:prstGeom prst="roundRect">
            <a:avLst>
              <a:gd name="adj" fmla="val 9412"/>
            </a:avLst>
          </a:prstGeom>
          <a:solidFill>
            <a:srgbClr val="243B42"/>
          </a:solidFill>
          <a:ln w="12700">
            <a:solidFill>
              <a:srgbClr val="FE3B1F"/>
            </a:solidFill>
            <a:prstDash val="solid"/>
          </a:ln>
        </p:spPr>
      </p:sp>
      <p:sp>
        <p:nvSpPr>
          <p:cNvPr id="10" name="Text 7"/>
          <p:cNvSpPr/>
          <p:nvPr/>
        </p:nvSpPr>
        <p:spPr>
          <a:xfrm>
            <a:off x="914400" y="2121408"/>
            <a:ext cx="6858000" cy="32004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Content die niet converteert</a:t>
            </a:r>
            <a:endParaRPr lang="en-US" sz="1400" dirty="0"/>
          </a:p>
        </p:txBody>
      </p:sp>
      <p:sp>
        <p:nvSpPr>
          <p:cNvPr id="11" name="Text 8"/>
          <p:cNvSpPr/>
          <p:nvPr/>
        </p:nvSpPr>
        <p:spPr>
          <a:xfrm>
            <a:off x="914400" y="2441448"/>
            <a:ext cx="6858000" cy="274320"/>
          </a:xfrm>
          <a:prstGeom prst="rect">
            <a:avLst/>
          </a:prstGeom>
          <a:noFill/>
          <a:ln/>
        </p:spPr>
        <p:txBody>
          <a:bodyPr wrap="square" rtlCol="0" anchor="ctr"/>
          <a:lstStyle/>
          <a:p>
            <a:pPr indent="0" marL="0">
              <a:buNone/>
            </a:pPr>
            <a:r>
              <a:rPr lang="en-US" sz="1100" dirty="0">
                <a:solidFill>
                  <a:srgbClr val="6B7280"/>
                </a:solidFill>
                <a:latin typeface="Arial" pitchFamily="34" charset="0"/>
                <a:ea typeface="Arial" pitchFamily="34" charset="-122"/>
                <a:cs typeface="Arial" pitchFamily="34" charset="-120"/>
              </a:rPr>
              <a:t>Bezoekers verlaten de site zonder contact op te nemen</a:t>
            </a:r>
            <a:endParaRPr lang="en-US" sz="1100" dirty="0"/>
          </a:p>
        </p:txBody>
      </p:sp>
      <p:sp>
        <p:nvSpPr>
          <p:cNvPr id="12" name="Shape 9"/>
          <p:cNvSpPr/>
          <p:nvPr/>
        </p:nvSpPr>
        <p:spPr>
          <a:xfrm>
            <a:off x="731520" y="2926080"/>
            <a:ext cx="7680960" cy="777240"/>
          </a:xfrm>
          <a:prstGeom prst="roundRect">
            <a:avLst>
              <a:gd name="adj" fmla="val 9412"/>
            </a:avLst>
          </a:prstGeom>
          <a:solidFill>
            <a:srgbClr val="243B42"/>
          </a:solidFill>
          <a:ln w="12700">
            <a:solidFill>
              <a:srgbClr val="FE3B1F"/>
            </a:solidFill>
            <a:prstDash val="solid"/>
          </a:ln>
        </p:spPr>
      </p:sp>
      <p:sp>
        <p:nvSpPr>
          <p:cNvPr id="13" name="Text 10"/>
          <p:cNvSpPr/>
          <p:nvPr/>
        </p:nvSpPr>
        <p:spPr>
          <a:xfrm>
            <a:off x="914400" y="3035808"/>
            <a:ext cx="6858000" cy="32004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Tijdrovende content creatie</a:t>
            </a:r>
            <a:endParaRPr lang="en-US" sz="1400" dirty="0"/>
          </a:p>
        </p:txBody>
      </p:sp>
      <p:sp>
        <p:nvSpPr>
          <p:cNvPr id="14" name="Text 11"/>
          <p:cNvSpPr/>
          <p:nvPr/>
        </p:nvSpPr>
        <p:spPr>
          <a:xfrm>
            <a:off x="914400" y="3355848"/>
            <a:ext cx="6858000" cy="274320"/>
          </a:xfrm>
          <a:prstGeom prst="rect">
            <a:avLst/>
          </a:prstGeom>
          <a:noFill/>
          <a:ln/>
        </p:spPr>
        <p:txBody>
          <a:bodyPr wrap="square" rtlCol="0" anchor="ctr"/>
          <a:lstStyle/>
          <a:p>
            <a:pPr indent="0" marL="0">
              <a:buNone/>
            </a:pPr>
            <a:r>
              <a:rPr lang="en-US" sz="1100" dirty="0">
                <a:solidFill>
                  <a:srgbClr val="6B7280"/>
                </a:solidFill>
                <a:latin typeface="Arial" pitchFamily="34" charset="0"/>
                <a:ea typeface="Arial" pitchFamily="34" charset="-122"/>
                <a:cs typeface="Arial" pitchFamily="34" charset="-120"/>
              </a:rPr>
              <a:t>Elke woning, elk project vraagt unieke beschrijvingen</a:t>
            </a:r>
            <a:endParaRPr lang="en-US" sz="1100" dirty="0"/>
          </a:p>
        </p:txBody>
      </p:sp>
      <p:sp>
        <p:nvSpPr>
          <p:cNvPr id="15" name="Shape 12"/>
          <p:cNvSpPr/>
          <p:nvPr/>
        </p:nvSpPr>
        <p:spPr>
          <a:xfrm>
            <a:off x="731520" y="3840480"/>
            <a:ext cx="7680960" cy="777240"/>
          </a:xfrm>
          <a:prstGeom prst="roundRect">
            <a:avLst>
              <a:gd name="adj" fmla="val 9412"/>
            </a:avLst>
          </a:prstGeom>
          <a:solidFill>
            <a:srgbClr val="243B42"/>
          </a:solidFill>
          <a:ln w="12700">
            <a:solidFill>
              <a:srgbClr val="FE3B1F"/>
            </a:solidFill>
            <a:prstDash val="solid"/>
          </a:ln>
        </p:spPr>
      </p:sp>
      <p:sp>
        <p:nvSpPr>
          <p:cNvPr id="16" name="Text 13"/>
          <p:cNvSpPr/>
          <p:nvPr/>
        </p:nvSpPr>
        <p:spPr>
          <a:xfrm>
            <a:off x="914400" y="3950208"/>
            <a:ext cx="6858000" cy="32004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Geen inzicht in wat werkt</a:t>
            </a:r>
            <a:endParaRPr lang="en-US" sz="1400" dirty="0"/>
          </a:p>
        </p:txBody>
      </p:sp>
      <p:sp>
        <p:nvSpPr>
          <p:cNvPr id="17" name="Text 14"/>
          <p:cNvSpPr/>
          <p:nvPr/>
        </p:nvSpPr>
        <p:spPr>
          <a:xfrm>
            <a:off x="914400" y="4270248"/>
            <a:ext cx="6858000" cy="274320"/>
          </a:xfrm>
          <a:prstGeom prst="rect">
            <a:avLst/>
          </a:prstGeom>
          <a:noFill/>
          <a:ln/>
        </p:spPr>
        <p:txBody>
          <a:bodyPr wrap="square" rtlCol="0" anchor="ctr"/>
          <a:lstStyle/>
          <a:p>
            <a:pPr indent="0" marL="0">
              <a:buNone/>
            </a:pPr>
            <a:r>
              <a:rPr lang="en-US" sz="1100" dirty="0">
                <a:solidFill>
                  <a:srgbClr val="6B7280"/>
                </a:solidFill>
                <a:latin typeface="Arial" pitchFamily="34" charset="0"/>
                <a:ea typeface="Arial" pitchFamily="34" charset="-122"/>
                <a:cs typeface="Arial" pitchFamily="34" charset="-120"/>
              </a:rPr>
              <a:t>Onduidelijk welke content leads genereert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www\cost-of-retreival-reducer\tmp\presentation\slides\brightlot-accent.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57200" y="731520"/>
            <a:ext cx="8229600" cy="365760"/>
          </a:xfrm>
          <a:prstGeom prst="rect">
            <a:avLst/>
          </a:prstGeom>
          <a:noFill/>
          <a:ln/>
        </p:spPr>
        <p:txBody>
          <a:bodyPr wrap="square" rtlCol="0" anchor="ctr"/>
          <a:lstStyle/>
          <a:p>
            <a:pPr algn="ctr" indent="0" marL="0">
              <a:buNone/>
            </a:pPr>
            <a:r>
              <a:rPr lang="en-US" sz="1800" dirty="0">
                <a:solidFill>
                  <a:srgbClr val="FFE0DC"/>
                </a:solidFill>
                <a:latin typeface="Arial" pitchFamily="34" charset="0"/>
                <a:ea typeface="Arial" pitchFamily="34" charset="-122"/>
                <a:cs typeface="Arial" pitchFamily="34" charset="-120"/>
              </a:rPr>
              <a:t>DE OPLOSSING</a:t>
            </a:r>
            <a:endParaRPr lang="en-US" sz="1800" dirty="0"/>
          </a:p>
        </p:txBody>
      </p:sp>
      <p:sp>
        <p:nvSpPr>
          <p:cNvPr id="4" name="Text 1"/>
          <p:cNvSpPr/>
          <p:nvPr/>
        </p:nvSpPr>
        <p:spPr>
          <a:xfrm>
            <a:off x="457200" y="1097280"/>
            <a:ext cx="8229600" cy="640080"/>
          </a:xfrm>
          <a:prstGeom prst="rect">
            <a:avLst/>
          </a:prstGeom>
          <a:noFill/>
          <a:ln/>
        </p:spPr>
        <p:txBody>
          <a:bodyPr wrap="square"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Holistic SEO Workbench</a:t>
            </a:r>
            <a:endParaRPr lang="en-US" sz="3600" dirty="0"/>
          </a:p>
        </p:txBody>
      </p:sp>
      <p:sp>
        <p:nvSpPr>
          <p:cNvPr id="5" name="Shape 2"/>
          <p:cNvSpPr/>
          <p:nvPr/>
        </p:nvSpPr>
        <p:spPr>
          <a:xfrm>
            <a:off x="3200400" y="1828800"/>
            <a:ext cx="2743200" cy="45720"/>
          </a:xfrm>
          <a:prstGeom prst="rect">
            <a:avLst/>
          </a:prstGeom>
          <a:solidFill>
            <a:srgbClr val="FFFFFF"/>
          </a:solidFill>
          <a:ln/>
        </p:spPr>
      </p:sp>
      <p:sp>
        <p:nvSpPr>
          <p:cNvPr id="6" name="Text 3"/>
          <p:cNvSpPr/>
          <p:nvPr/>
        </p:nvSpPr>
        <p:spPr>
          <a:xfrm>
            <a:off x="457200" y="2103120"/>
            <a:ext cx="8229600" cy="365760"/>
          </a:xfrm>
          <a:prstGeom prst="rect">
            <a:avLst/>
          </a:prstGeom>
          <a:noFill/>
          <a:ln/>
        </p:spPr>
        <p:txBody>
          <a:bodyPr wrap="square" rtlCol="0" anchor="ctr"/>
          <a:lstStyle/>
          <a:p>
            <a:pPr algn="ctr" indent="0" marL="0">
              <a:buNone/>
            </a:pPr>
            <a:r>
              <a:rPr lang="en-US" sz="1400" dirty="0">
                <a:solidFill>
                  <a:srgbClr val="FFFFFF"/>
                </a:solidFill>
                <a:latin typeface="Arial" pitchFamily="34" charset="0"/>
                <a:ea typeface="Arial" pitchFamily="34" charset="-122"/>
                <a:cs typeface="Arial" pitchFamily="34" charset="-120"/>
              </a:rPr>
              <a:t>Een platform dat:</a:t>
            </a:r>
            <a:endParaRPr lang="en-US" sz="1400" dirty="0"/>
          </a:p>
        </p:txBody>
      </p:sp>
      <p:sp>
        <p:nvSpPr>
          <p:cNvPr id="7" name="Text 4"/>
          <p:cNvSpPr/>
          <p:nvPr/>
        </p:nvSpPr>
        <p:spPr>
          <a:xfrm>
            <a:off x="1828800" y="2606040"/>
            <a:ext cx="5486400" cy="36576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 Projectwebsites laat scoren in Google (organisch verkeer)</a:t>
            </a:r>
            <a:endParaRPr lang="en-US" sz="1400" dirty="0"/>
          </a:p>
        </p:txBody>
      </p:sp>
      <p:sp>
        <p:nvSpPr>
          <p:cNvPr id="8" name="Text 5"/>
          <p:cNvSpPr/>
          <p:nvPr/>
        </p:nvSpPr>
        <p:spPr>
          <a:xfrm>
            <a:off x="1828800" y="3063240"/>
            <a:ext cx="5486400" cy="36576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 Woningbeschrijvingen genereert die converteren</a:t>
            </a:r>
            <a:endParaRPr lang="en-US" sz="1400" dirty="0"/>
          </a:p>
        </p:txBody>
      </p:sp>
      <p:sp>
        <p:nvSpPr>
          <p:cNvPr id="9" name="Text 6"/>
          <p:cNvSpPr/>
          <p:nvPr/>
        </p:nvSpPr>
        <p:spPr>
          <a:xfrm>
            <a:off x="1828800" y="3520440"/>
            <a:ext cx="5486400" cy="36576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 Content schaalt voor meerdere projecten tegelijk</a:t>
            </a:r>
            <a:endParaRPr lang="en-US" sz="1400" dirty="0"/>
          </a:p>
        </p:txBody>
      </p:sp>
      <p:sp>
        <p:nvSpPr>
          <p:cNvPr id="10" name="Text 7"/>
          <p:cNvSpPr/>
          <p:nvPr/>
        </p:nvSpPr>
        <p:spPr>
          <a:xfrm>
            <a:off x="1828800" y="3977640"/>
            <a:ext cx="5486400" cy="36576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 Inzicht geeft in wat werkt en wat niet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www\cost-of-retreival-reducer\tmp\presentation\slides\brightlot-dark.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137160" cy="5143500"/>
          </a:xfrm>
          <a:prstGeom prst="rect">
            <a:avLst/>
          </a:prstGeom>
          <a:solidFill>
            <a:srgbClr val="FE3B1F"/>
          </a:solidFill>
          <a:ln/>
        </p:spPr>
      </p:sp>
      <p:sp>
        <p:nvSpPr>
          <p:cNvPr id="4" name="Text 1"/>
          <p:cNvSpPr/>
          <p:nvPr/>
        </p:nvSpPr>
        <p:spPr>
          <a:xfrm>
            <a:off x="457200" y="228600"/>
            <a:ext cx="8229600" cy="457200"/>
          </a:xfrm>
          <a:prstGeom prst="rect">
            <a:avLst/>
          </a:prstGeom>
          <a:noFill/>
          <a:ln/>
        </p:spPr>
        <p:txBody>
          <a:bodyPr wrap="square" rtlCol="0" anchor="ctr"/>
          <a:lstStyle/>
          <a:p>
            <a:pPr algn="ctr" indent="0" marL="0">
              <a:buNone/>
            </a:pPr>
            <a:r>
              <a:rPr lang="en-US" sz="2600" b="1" dirty="0">
                <a:solidFill>
                  <a:srgbClr val="FE3B1F"/>
                </a:solidFill>
                <a:latin typeface="Arial" pitchFamily="34" charset="0"/>
                <a:ea typeface="Arial" pitchFamily="34" charset="-122"/>
                <a:cs typeface="Arial" pitchFamily="34" charset="-120"/>
              </a:rPr>
              <a:t>RESULTATEN DIE TELLEN</a:t>
            </a:r>
            <a:endParaRPr lang="en-US" sz="2600" dirty="0"/>
          </a:p>
        </p:txBody>
      </p:sp>
      <p:sp>
        <p:nvSpPr>
          <p:cNvPr id="5" name="Shape 2"/>
          <p:cNvSpPr/>
          <p:nvPr/>
        </p:nvSpPr>
        <p:spPr>
          <a:xfrm>
            <a:off x="457200" y="868680"/>
            <a:ext cx="2011680" cy="1737360"/>
          </a:xfrm>
          <a:prstGeom prst="roundRect">
            <a:avLst>
              <a:gd name="adj" fmla="val 6316"/>
            </a:avLst>
          </a:prstGeom>
          <a:solidFill>
            <a:srgbClr val="243B42"/>
          </a:solidFill>
          <a:ln w="25400">
            <a:solidFill>
              <a:srgbClr val="FE3B1F"/>
            </a:solidFill>
            <a:prstDash val="solid"/>
          </a:ln>
        </p:spPr>
      </p:sp>
      <p:sp>
        <p:nvSpPr>
          <p:cNvPr id="6" name="Text 3"/>
          <p:cNvSpPr/>
          <p:nvPr/>
        </p:nvSpPr>
        <p:spPr>
          <a:xfrm>
            <a:off x="457200" y="1005840"/>
            <a:ext cx="2011680" cy="640080"/>
          </a:xfrm>
          <a:prstGeom prst="rect">
            <a:avLst/>
          </a:prstGeom>
          <a:noFill/>
          <a:ln/>
        </p:spPr>
        <p:txBody>
          <a:bodyPr wrap="square" rtlCol="0" anchor="ctr"/>
          <a:lstStyle/>
          <a:p>
            <a:pPr algn="ctr" indent="0" marL="0">
              <a:buNone/>
            </a:pPr>
            <a:r>
              <a:rPr lang="en-US" sz="3200" b="1" dirty="0">
                <a:solidFill>
                  <a:srgbClr val="FE3B1F"/>
                </a:solidFill>
                <a:latin typeface="Arial" pitchFamily="34" charset="0"/>
                <a:ea typeface="Arial" pitchFamily="34" charset="-122"/>
                <a:cs typeface="Arial" pitchFamily="34" charset="-120"/>
              </a:rPr>
              <a:t>+300%</a:t>
            </a:r>
            <a:endParaRPr lang="en-US" sz="3200" dirty="0"/>
          </a:p>
        </p:txBody>
      </p:sp>
      <p:sp>
        <p:nvSpPr>
          <p:cNvPr id="7" name="Text 4"/>
          <p:cNvSpPr/>
          <p:nvPr/>
        </p:nvSpPr>
        <p:spPr>
          <a:xfrm>
            <a:off x="457200" y="1645920"/>
            <a:ext cx="2011680" cy="36576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Organisch verkeer</a:t>
            </a:r>
            <a:endParaRPr lang="en-US" sz="1100" dirty="0"/>
          </a:p>
        </p:txBody>
      </p:sp>
      <p:sp>
        <p:nvSpPr>
          <p:cNvPr id="8" name="Text 5"/>
          <p:cNvSpPr/>
          <p:nvPr/>
        </p:nvSpPr>
        <p:spPr>
          <a:xfrm>
            <a:off x="457200" y="2011680"/>
            <a:ext cx="2011680" cy="320040"/>
          </a:xfrm>
          <a:prstGeom prst="rect">
            <a:avLst/>
          </a:prstGeom>
          <a:noFill/>
          <a:ln/>
        </p:spPr>
        <p:txBody>
          <a:bodyPr wrap="square" rtlCol="0" anchor="ctr"/>
          <a:lstStyle/>
          <a:p>
            <a:pPr algn="ctr" indent="0" marL="0">
              <a:buNone/>
            </a:pPr>
            <a:r>
              <a:rPr lang="en-US" sz="900" dirty="0">
                <a:solidFill>
                  <a:srgbClr val="6B7280"/>
                </a:solidFill>
                <a:latin typeface="Arial" pitchFamily="34" charset="0"/>
                <a:ea typeface="Arial" pitchFamily="34" charset="-122"/>
                <a:cs typeface="Arial" pitchFamily="34" charset="-120"/>
              </a:rPr>
              <a:t>Meer bezoekers via Google</a:t>
            </a:r>
            <a:endParaRPr lang="en-US" sz="900" dirty="0"/>
          </a:p>
        </p:txBody>
      </p:sp>
      <p:sp>
        <p:nvSpPr>
          <p:cNvPr id="9" name="Shape 6"/>
          <p:cNvSpPr/>
          <p:nvPr/>
        </p:nvSpPr>
        <p:spPr>
          <a:xfrm>
            <a:off x="2651760" y="868680"/>
            <a:ext cx="2011680" cy="1737360"/>
          </a:xfrm>
          <a:prstGeom prst="roundRect">
            <a:avLst>
              <a:gd name="adj" fmla="val 6316"/>
            </a:avLst>
          </a:prstGeom>
          <a:solidFill>
            <a:srgbClr val="243B42"/>
          </a:solidFill>
          <a:ln w="25400">
            <a:solidFill>
              <a:srgbClr val="FE3B1F"/>
            </a:solidFill>
            <a:prstDash val="solid"/>
          </a:ln>
        </p:spPr>
      </p:sp>
      <p:sp>
        <p:nvSpPr>
          <p:cNvPr id="10" name="Text 7"/>
          <p:cNvSpPr/>
          <p:nvPr/>
        </p:nvSpPr>
        <p:spPr>
          <a:xfrm>
            <a:off x="2651760" y="1005840"/>
            <a:ext cx="2011680" cy="640080"/>
          </a:xfrm>
          <a:prstGeom prst="rect">
            <a:avLst/>
          </a:prstGeom>
          <a:noFill/>
          <a:ln/>
        </p:spPr>
        <p:txBody>
          <a:bodyPr wrap="square" rtlCol="0" anchor="ctr"/>
          <a:lstStyle/>
          <a:p>
            <a:pPr algn="ctr" indent="0" marL="0">
              <a:buNone/>
            </a:pPr>
            <a:r>
              <a:rPr lang="en-US" sz="3200" b="1" dirty="0">
                <a:solidFill>
                  <a:srgbClr val="FE3B1F"/>
                </a:solidFill>
                <a:latin typeface="Arial" pitchFamily="34" charset="0"/>
                <a:ea typeface="Arial" pitchFamily="34" charset="-122"/>
                <a:cs typeface="Arial" pitchFamily="34" charset="-120"/>
              </a:rPr>
              <a:t>+85%</a:t>
            </a:r>
            <a:endParaRPr lang="en-US" sz="3200" dirty="0"/>
          </a:p>
        </p:txBody>
      </p:sp>
      <p:sp>
        <p:nvSpPr>
          <p:cNvPr id="11" name="Text 8"/>
          <p:cNvSpPr/>
          <p:nvPr/>
        </p:nvSpPr>
        <p:spPr>
          <a:xfrm>
            <a:off x="2651760" y="1645920"/>
            <a:ext cx="2011680" cy="36576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Conversie</a:t>
            </a:r>
            <a:endParaRPr lang="en-US" sz="1100" dirty="0"/>
          </a:p>
        </p:txBody>
      </p:sp>
      <p:sp>
        <p:nvSpPr>
          <p:cNvPr id="12" name="Text 9"/>
          <p:cNvSpPr/>
          <p:nvPr/>
        </p:nvSpPr>
        <p:spPr>
          <a:xfrm>
            <a:off x="2651760" y="2011680"/>
            <a:ext cx="2011680" cy="320040"/>
          </a:xfrm>
          <a:prstGeom prst="rect">
            <a:avLst/>
          </a:prstGeom>
          <a:noFill/>
          <a:ln/>
        </p:spPr>
        <p:txBody>
          <a:bodyPr wrap="square" rtlCol="0" anchor="ctr"/>
          <a:lstStyle/>
          <a:p>
            <a:pPr algn="ctr" indent="0" marL="0">
              <a:buNone/>
            </a:pPr>
            <a:r>
              <a:rPr lang="en-US" sz="900" dirty="0">
                <a:solidFill>
                  <a:srgbClr val="6B7280"/>
                </a:solidFill>
                <a:latin typeface="Arial" pitchFamily="34" charset="0"/>
                <a:ea typeface="Arial" pitchFamily="34" charset="-122"/>
                <a:cs typeface="Arial" pitchFamily="34" charset="-120"/>
              </a:rPr>
              <a:t>Meer leads per bezoeker</a:t>
            </a:r>
            <a:endParaRPr lang="en-US" sz="900" dirty="0"/>
          </a:p>
        </p:txBody>
      </p:sp>
      <p:sp>
        <p:nvSpPr>
          <p:cNvPr id="13" name="Shape 10"/>
          <p:cNvSpPr/>
          <p:nvPr/>
        </p:nvSpPr>
        <p:spPr>
          <a:xfrm>
            <a:off x="4846320" y="868680"/>
            <a:ext cx="2011680" cy="1737360"/>
          </a:xfrm>
          <a:prstGeom prst="roundRect">
            <a:avLst>
              <a:gd name="adj" fmla="val 6316"/>
            </a:avLst>
          </a:prstGeom>
          <a:solidFill>
            <a:srgbClr val="243B42"/>
          </a:solidFill>
          <a:ln w="25400">
            <a:solidFill>
              <a:srgbClr val="FE3B1F"/>
            </a:solidFill>
            <a:prstDash val="solid"/>
          </a:ln>
        </p:spPr>
      </p:sp>
      <p:sp>
        <p:nvSpPr>
          <p:cNvPr id="14" name="Text 11"/>
          <p:cNvSpPr/>
          <p:nvPr/>
        </p:nvSpPr>
        <p:spPr>
          <a:xfrm>
            <a:off x="4846320" y="1005840"/>
            <a:ext cx="2011680" cy="640080"/>
          </a:xfrm>
          <a:prstGeom prst="rect">
            <a:avLst/>
          </a:prstGeom>
          <a:noFill/>
          <a:ln/>
        </p:spPr>
        <p:txBody>
          <a:bodyPr wrap="square" rtlCol="0" anchor="ctr"/>
          <a:lstStyle/>
          <a:p>
            <a:pPr algn="ctr" indent="0" marL="0">
              <a:buNone/>
            </a:pPr>
            <a:r>
              <a:rPr lang="en-US" sz="3200" b="1" dirty="0">
                <a:solidFill>
                  <a:srgbClr val="FE3B1F"/>
                </a:solidFill>
                <a:latin typeface="Arial" pitchFamily="34" charset="0"/>
                <a:ea typeface="Arial" pitchFamily="34" charset="-122"/>
                <a:cs typeface="Arial" pitchFamily="34" charset="-120"/>
              </a:rPr>
              <a:t>80%</a:t>
            </a:r>
            <a:endParaRPr lang="en-US" sz="3200" dirty="0"/>
          </a:p>
        </p:txBody>
      </p:sp>
      <p:sp>
        <p:nvSpPr>
          <p:cNvPr id="15" name="Text 12"/>
          <p:cNvSpPr/>
          <p:nvPr/>
        </p:nvSpPr>
        <p:spPr>
          <a:xfrm>
            <a:off x="4846320" y="1645920"/>
            <a:ext cx="2011680" cy="36576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Tijdsbesparing</a:t>
            </a:r>
            <a:endParaRPr lang="en-US" sz="1100" dirty="0"/>
          </a:p>
        </p:txBody>
      </p:sp>
      <p:sp>
        <p:nvSpPr>
          <p:cNvPr id="16" name="Text 13"/>
          <p:cNvSpPr/>
          <p:nvPr/>
        </p:nvSpPr>
        <p:spPr>
          <a:xfrm>
            <a:off x="4846320" y="2011680"/>
            <a:ext cx="2011680" cy="320040"/>
          </a:xfrm>
          <a:prstGeom prst="rect">
            <a:avLst/>
          </a:prstGeom>
          <a:noFill/>
          <a:ln/>
        </p:spPr>
        <p:txBody>
          <a:bodyPr wrap="square" rtlCol="0" anchor="ctr"/>
          <a:lstStyle/>
          <a:p>
            <a:pPr algn="ctr" indent="0" marL="0">
              <a:buNone/>
            </a:pPr>
            <a:r>
              <a:rPr lang="en-US" sz="900" dirty="0">
                <a:solidFill>
                  <a:srgbClr val="6B7280"/>
                </a:solidFill>
                <a:latin typeface="Arial" pitchFamily="34" charset="0"/>
                <a:ea typeface="Arial" pitchFamily="34" charset="-122"/>
                <a:cs typeface="Arial" pitchFamily="34" charset="-120"/>
              </a:rPr>
              <a:t>Content creatie</a:t>
            </a:r>
            <a:endParaRPr lang="en-US" sz="900" dirty="0"/>
          </a:p>
        </p:txBody>
      </p:sp>
      <p:sp>
        <p:nvSpPr>
          <p:cNvPr id="17" name="Shape 14"/>
          <p:cNvSpPr/>
          <p:nvPr/>
        </p:nvSpPr>
        <p:spPr>
          <a:xfrm>
            <a:off x="7040880" y="868680"/>
            <a:ext cx="2011680" cy="1737360"/>
          </a:xfrm>
          <a:prstGeom prst="roundRect">
            <a:avLst>
              <a:gd name="adj" fmla="val 6316"/>
            </a:avLst>
          </a:prstGeom>
          <a:solidFill>
            <a:srgbClr val="243B42"/>
          </a:solidFill>
          <a:ln w="25400">
            <a:solidFill>
              <a:srgbClr val="FE3B1F"/>
            </a:solidFill>
            <a:prstDash val="solid"/>
          </a:ln>
        </p:spPr>
      </p:sp>
      <p:sp>
        <p:nvSpPr>
          <p:cNvPr id="18" name="Text 15"/>
          <p:cNvSpPr/>
          <p:nvPr/>
        </p:nvSpPr>
        <p:spPr>
          <a:xfrm>
            <a:off x="7040880" y="1005840"/>
            <a:ext cx="2011680" cy="640080"/>
          </a:xfrm>
          <a:prstGeom prst="rect">
            <a:avLst/>
          </a:prstGeom>
          <a:noFill/>
          <a:ln/>
        </p:spPr>
        <p:txBody>
          <a:bodyPr wrap="square" rtlCol="0" anchor="ctr"/>
          <a:lstStyle/>
          <a:p>
            <a:pPr algn="ctr" indent="0" marL="0">
              <a:buNone/>
            </a:pPr>
            <a:r>
              <a:rPr lang="en-US" sz="3200" b="1" dirty="0">
                <a:solidFill>
                  <a:srgbClr val="FE3B1F"/>
                </a:solidFill>
                <a:latin typeface="Arial" pitchFamily="34" charset="0"/>
                <a:ea typeface="Arial" pitchFamily="34" charset="-122"/>
                <a:cs typeface="Arial" pitchFamily="34" charset="-120"/>
              </a:rPr>
              <a:t>129+</a:t>
            </a:r>
            <a:endParaRPr lang="en-US" sz="3200" dirty="0"/>
          </a:p>
        </p:txBody>
      </p:sp>
      <p:sp>
        <p:nvSpPr>
          <p:cNvPr id="19" name="Text 16"/>
          <p:cNvSpPr/>
          <p:nvPr/>
        </p:nvSpPr>
        <p:spPr>
          <a:xfrm>
            <a:off x="7040880" y="1645920"/>
            <a:ext cx="2011680" cy="36576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Kwaliteitsregels</a:t>
            </a:r>
            <a:endParaRPr lang="en-US" sz="1100" dirty="0"/>
          </a:p>
        </p:txBody>
      </p:sp>
      <p:sp>
        <p:nvSpPr>
          <p:cNvPr id="20" name="Text 17"/>
          <p:cNvSpPr/>
          <p:nvPr/>
        </p:nvSpPr>
        <p:spPr>
          <a:xfrm>
            <a:off x="7040880" y="2011680"/>
            <a:ext cx="2011680" cy="320040"/>
          </a:xfrm>
          <a:prstGeom prst="rect">
            <a:avLst/>
          </a:prstGeom>
          <a:noFill/>
          <a:ln/>
        </p:spPr>
        <p:txBody>
          <a:bodyPr wrap="square" rtlCol="0" anchor="ctr"/>
          <a:lstStyle/>
          <a:p>
            <a:pPr algn="ctr" indent="0" marL="0">
              <a:buNone/>
            </a:pPr>
            <a:r>
              <a:rPr lang="en-US" sz="900" dirty="0">
                <a:solidFill>
                  <a:srgbClr val="6B7280"/>
                </a:solidFill>
                <a:latin typeface="Arial" pitchFamily="34" charset="0"/>
                <a:ea typeface="Arial" pitchFamily="34" charset="-122"/>
                <a:cs typeface="Arial" pitchFamily="34" charset="-120"/>
              </a:rPr>
              <a:t>Automatische checks</a:t>
            </a:r>
            <a:endParaRPr lang="en-US" sz="900" dirty="0"/>
          </a:p>
        </p:txBody>
      </p:sp>
      <p:sp>
        <p:nvSpPr>
          <p:cNvPr id="21" name="Text 18"/>
          <p:cNvSpPr/>
          <p:nvPr/>
        </p:nvSpPr>
        <p:spPr>
          <a:xfrm>
            <a:off x="457200" y="2834640"/>
            <a:ext cx="822960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VAN BEZOEKER NAAR KOPER</a:t>
            </a:r>
            <a:endParaRPr lang="en-US" sz="1400" dirty="0"/>
          </a:p>
        </p:txBody>
      </p:sp>
      <p:sp>
        <p:nvSpPr>
          <p:cNvPr id="22" name="Shape 19"/>
          <p:cNvSpPr/>
          <p:nvPr/>
        </p:nvSpPr>
        <p:spPr>
          <a:xfrm>
            <a:off x="914400" y="3291840"/>
            <a:ext cx="1828800" cy="1280160"/>
          </a:xfrm>
          <a:prstGeom prst="roundRect">
            <a:avLst>
              <a:gd name="adj" fmla="val 5714"/>
            </a:avLst>
          </a:prstGeom>
          <a:solidFill>
            <a:srgbClr val="FE3B1F"/>
          </a:solidFill>
          <a:ln/>
        </p:spPr>
      </p:sp>
      <p:sp>
        <p:nvSpPr>
          <p:cNvPr id="23" name="Text 20"/>
          <p:cNvSpPr/>
          <p:nvPr/>
        </p:nvSpPr>
        <p:spPr>
          <a:xfrm>
            <a:off x="914400" y="3383280"/>
            <a:ext cx="1828800" cy="36576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24" name="Text 21"/>
          <p:cNvSpPr/>
          <p:nvPr/>
        </p:nvSpPr>
        <p:spPr>
          <a:xfrm>
            <a:off x="914400" y="3749040"/>
            <a:ext cx="182880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Awareness</a:t>
            </a:r>
            <a:endParaRPr lang="en-US" sz="1200" dirty="0"/>
          </a:p>
        </p:txBody>
      </p:sp>
      <p:sp>
        <p:nvSpPr>
          <p:cNvPr id="25" name="Text 22"/>
          <p:cNvSpPr/>
          <p:nvPr/>
        </p:nvSpPr>
        <p:spPr>
          <a:xfrm>
            <a:off x="914400" y="4069080"/>
            <a:ext cx="1828800" cy="320040"/>
          </a:xfrm>
          <a:prstGeom prst="rect">
            <a:avLst/>
          </a:prstGeom>
          <a:noFill/>
          <a:ln/>
        </p:spPr>
        <p:txBody>
          <a:bodyPr wrap="square" rtlCol="0" anchor="ctr"/>
          <a:lstStyle/>
          <a:p>
            <a:pPr algn="ctr" indent="0" marL="0">
              <a:buNone/>
            </a:pPr>
            <a:r>
              <a:rPr lang="en-US" sz="900" dirty="0">
                <a:solidFill>
                  <a:srgbClr val="FFE0DC"/>
                </a:solidFill>
                <a:latin typeface="Arial" pitchFamily="34" charset="0"/>
                <a:ea typeface="Arial" pitchFamily="34" charset="-122"/>
                <a:cs typeface="Arial" pitchFamily="34" charset="-120"/>
              </a:rPr>
              <a:t>Google Rankings</a:t>
            </a:r>
            <a:endParaRPr lang="en-US" sz="900" dirty="0"/>
          </a:p>
        </p:txBody>
      </p:sp>
      <p:sp>
        <p:nvSpPr>
          <p:cNvPr id="26" name="Text 23"/>
          <p:cNvSpPr/>
          <p:nvPr/>
        </p:nvSpPr>
        <p:spPr>
          <a:xfrm>
            <a:off x="2697480" y="3657600"/>
            <a:ext cx="274320" cy="457200"/>
          </a:xfrm>
          <a:prstGeom prst="rect">
            <a:avLst/>
          </a:prstGeom>
          <a:noFill/>
          <a:ln/>
        </p:spPr>
        <p:txBody>
          <a:bodyPr wrap="square" rtlCol="0" anchor="ctr"/>
          <a:lstStyle/>
          <a:p>
            <a:pPr indent="0" marL="0">
              <a:buNone/>
            </a:pPr>
            <a:r>
              <a:rPr lang="en-US" sz="2000" dirty="0">
                <a:solidFill>
                  <a:srgbClr val="6B7280"/>
                </a:solidFill>
                <a:latin typeface="Arial" pitchFamily="34" charset="0"/>
                <a:ea typeface="Arial" pitchFamily="34" charset="-122"/>
                <a:cs typeface="Arial" pitchFamily="34" charset="-120"/>
              </a:rPr>
              <a:t>&gt;</a:t>
            </a:r>
            <a:endParaRPr lang="en-US" sz="2000" dirty="0"/>
          </a:p>
        </p:txBody>
      </p:sp>
      <p:sp>
        <p:nvSpPr>
          <p:cNvPr id="27" name="Shape 24"/>
          <p:cNvSpPr/>
          <p:nvPr/>
        </p:nvSpPr>
        <p:spPr>
          <a:xfrm>
            <a:off x="2880360" y="3291840"/>
            <a:ext cx="1828800" cy="1280160"/>
          </a:xfrm>
          <a:prstGeom prst="roundRect">
            <a:avLst>
              <a:gd name="adj" fmla="val 5714"/>
            </a:avLst>
          </a:prstGeom>
          <a:solidFill>
            <a:srgbClr val="FE3B1F"/>
          </a:solidFill>
          <a:ln/>
        </p:spPr>
      </p:sp>
      <p:sp>
        <p:nvSpPr>
          <p:cNvPr id="28" name="Text 25"/>
          <p:cNvSpPr/>
          <p:nvPr/>
        </p:nvSpPr>
        <p:spPr>
          <a:xfrm>
            <a:off x="2880360" y="3383280"/>
            <a:ext cx="1828800" cy="36576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29" name="Text 26"/>
          <p:cNvSpPr/>
          <p:nvPr/>
        </p:nvSpPr>
        <p:spPr>
          <a:xfrm>
            <a:off x="2880360" y="3749040"/>
            <a:ext cx="182880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Interest</a:t>
            </a:r>
            <a:endParaRPr lang="en-US" sz="1200" dirty="0"/>
          </a:p>
        </p:txBody>
      </p:sp>
      <p:sp>
        <p:nvSpPr>
          <p:cNvPr id="30" name="Text 27"/>
          <p:cNvSpPr/>
          <p:nvPr/>
        </p:nvSpPr>
        <p:spPr>
          <a:xfrm>
            <a:off x="2880360" y="4069080"/>
            <a:ext cx="1828800" cy="320040"/>
          </a:xfrm>
          <a:prstGeom prst="rect">
            <a:avLst/>
          </a:prstGeom>
          <a:noFill/>
          <a:ln/>
        </p:spPr>
        <p:txBody>
          <a:bodyPr wrap="square" rtlCol="0" anchor="ctr"/>
          <a:lstStyle/>
          <a:p>
            <a:pPr algn="ctr" indent="0" marL="0">
              <a:buNone/>
            </a:pPr>
            <a:r>
              <a:rPr lang="en-US" sz="900" dirty="0">
                <a:solidFill>
                  <a:srgbClr val="FFE0DC"/>
                </a:solidFill>
                <a:latin typeface="Arial" pitchFamily="34" charset="0"/>
                <a:ea typeface="Arial" pitchFamily="34" charset="-122"/>
                <a:cs typeface="Arial" pitchFamily="34" charset="-120"/>
              </a:rPr>
              <a:t>Pagina Engagement</a:t>
            </a:r>
            <a:endParaRPr lang="en-US" sz="900" dirty="0"/>
          </a:p>
        </p:txBody>
      </p:sp>
      <p:sp>
        <p:nvSpPr>
          <p:cNvPr id="31" name="Text 28"/>
          <p:cNvSpPr/>
          <p:nvPr/>
        </p:nvSpPr>
        <p:spPr>
          <a:xfrm>
            <a:off x="4663440" y="3657600"/>
            <a:ext cx="274320" cy="457200"/>
          </a:xfrm>
          <a:prstGeom prst="rect">
            <a:avLst/>
          </a:prstGeom>
          <a:noFill/>
          <a:ln/>
        </p:spPr>
        <p:txBody>
          <a:bodyPr wrap="square" rtlCol="0" anchor="ctr"/>
          <a:lstStyle/>
          <a:p>
            <a:pPr indent="0" marL="0">
              <a:buNone/>
            </a:pPr>
            <a:r>
              <a:rPr lang="en-US" sz="2000" dirty="0">
                <a:solidFill>
                  <a:srgbClr val="6B7280"/>
                </a:solidFill>
                <a:latin typeface="Arial" pitchFamily="34" charset="0"/>
                <a:ea typeface="Arial" pitchFamily="34" charset="-122"/>
                <a:cs typeface="Arial" pitchFamily="34" charset="-120"/>
              </a:rPr>
              <a:t>&gt;</a:t>
            </a:r>
            <a:endParaRPr lang="en-US" sz="2000" dirty="0"/>
          </a:p>
        </p:txBody>
      </p:sp>
      <p:sp>
        <p:nvSpPr>
          <p:cNvPr id="32" name="Shape 29"/>
          <p:cNvSpPr/>
          <p:nvPr/>
        </p:nvSpPr>
        <p:spPr>
          <a:xfrm>
            <a:off x="4846320" y="3291840"/>
            <a:ext cx="1828800" cy="1280160"/>
          </a:xfrm>
          <a:prstGeom prst="roundRect">
            <a:avLst>
              <a:gd name="adj" fmla="val 5714"/>
            </a:avLst>
          </a:prstGeom>
          <a:solidFill>
            <a:srgbClr val="FE3B1F"/>
          </a:solidFill>
          <a:ln/>
        </p:spPr>
      </p:sp>
      <p:sp>
        <p:nvSpPr>
          <p:cNvPr id="33" name="Text 30"/>
          <p:cNvSpPr/>
          <p:nvPr/>
        </p:nvSpPr>
        <p:spPr>
          <a:xfrm>
            <a:off x="4846320" y="3383280"/>
            <a:ext cx="1828800" cy="36576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34" name="Text 31"/>
          <p:cNvSpPr/>
          <p:nvPr/>
        </p:nvSpPr>
        <p:spPr>
          <a:xfrm>
            <a:off x="4846320" y="3749040"/>
            <a:ext cx="182880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Desire</a:t>
            </a:r>
            <a:endParaRPr lang="en-US" sz="1200" dirty="0"/>
          </a:p>
        </p:txBody>
      </p:sp>
      <p:sp>
        <p:nvSpPr>
          <p:cNvPr id="35" name="Text 32"/>
          <p:cNvSpPr/>
          <p:nvPr/>
        </p:nvSpPr>
        <p:spPr>
          <a:xfrm>
            <a:off x="4846320" y="4069080"/>
            <a:ext cx="1828800" cy="320040"/>
          </a:xfrm>
          <a:prstGeom prst="rect">
            <a:avLst/>
          </a:prstGeom>
          <a:noFill/>
          <a:ln/>
        </p:spPr>
        <p:txBody>
          <a:bodyPr wrap="square" rtlCol="0" anchor="ctr"/>
          <a:lstStyle/>
          <a:p>
            <a:pPr algn="ctr" indent="0" marL="0">
              <a:buNone/>
            </a:pPr>
            <a:r>
              <a:rPr lang="en-US" sz="900" dirty="0">
                <a:solidFill>
                  <a:srgbClr val="FFE0DC"/>
                </a:solidFill>
                <a:latin typeface="Arial" pitchFamily="34" charset="0"/>
                <a:ea typeface="Arial" pitchFamily="34" charset="-122"/>
                <a:cs typeface="Arial" pitchFamily="34" charset="-120"/>
              </a:rPr>
              <a:t>Content Kwaliteit</a:t>
            </a:r>
            <a:endParaRPr lang="en-US" sz="900" dirty="0"/>
          </a:p>
        </p:txBody>
      </p:sp>
      <p:sp>
        <p:nvSpPr>
          <p:cNvPr id="36" name="Text 33"/>
          <p:cNvSpPr/>
          <p:nvPr/>
        </p:nvSpPr>
        <p:spPr>
          <a:xfrm>
            <a:off x="6629400" y="3657600"/>
            <a:ext cx="274320" cy="457200"/>
          </a:xfrm>
          <a:prstGeom prst="rect">
            <a:avLst/>
          </a:prstGeom>
          <a:noFill/>
          <a:ln/>
        </p:spPr>
        <p:txBody>
          <a:bodyPr wrap="square" rtlCol="0" anchor="ctr"/>
          <a:lstStyle/>
          <a:p>
            <a:pPr indent="0" marL="0">
              <a:buNone/>
            </a:pPr>
            <a:r>
              <a:rPr lang="en-US" sz="2000" dirty="0">
                <a:solidFill>
                  <a:srgbClr val="6B7280"/>
                </a:solidFill>
                <a:latin typeface="Arial" pitchFamily="34" charset="0"/>
                <a:ea typeface="Arial" pitchFamily="34" charset="-122"/>
                <a:cs typeface="Arial" pitchFamily="34" charset="-120"/>
              </a:rPr>
              <a:t>&gt;</a:t>
            </a:r>
            <a:endParaRPr lang="en-US" sz="2000" dirty="0"/>
          </a:p>
        </p:txBody>
      </p:sp>
      <p:sp>
        <p:nvSpPr>
          <p:cNvPr id="37" name="Shape 34"/>
          <p:cNvSpPr/>
          <p:nvPr/>
        </p:nvSpPr>
        <p:spPr>
          <a:xfrm>
            <a:off x="6812280" y="3291840"/>
            <a:ext cx="1828800" cy="1280160"/>
          </a:xfrm>
          <a:prstGeom prst="roundRect">
            <a:avLst>
              <a:gd name="adj" fmla="val 5714"/>
            </a:avLst>
          </a:prstGeom>
          <a:solidFill>
            <a:srgbClr val="FE3B1F"/>
          </a:solidFill>
          <a:ln/>
        </p:spPr>
      </p:sp>
      <p:sp>
        <p:nvSpPr>
          <p:cNvPr id="38" name="Text 35"/>
          <p:cNvSpPr/>
          <p:nvPr/>
        </p:nvSpPr>
        <p:spPr>
          <a:xfrm>
            <a:off x="6812280" y="3383280"/>
            <a:ext cx="1828800" cy="36576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39" name="Text 36"/>
          <p:cNvSpPr/>
          <p:nvPr/>
        </p:nvSpPr>
        <p:spPr>
          <a:xfrm>
            <a:off x="6812280" y="3749040"/>
            <a:ext cx="182880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Action</a:t>
            </a:r>
            <a:endParaRPr lang="en-US" sz="1200" dirty="0"/>
          </a:p>
        </p:txBody>
      </p:sp>
      <p:sp>
        <p:nvSpPr>
          <p:cNvPr id="40" name="Text 37"/>
          <p:cNvSpPr/>
          <p:nvPr/>
        </p:nvSpPr>
        <p:spPr>
          <a:xfrm>
            <a:off x="6812280" y="4069080"/>
            <a:ext cx="1828800" cy="320040"/>
          </a:xfrm>
          <a:prstGeom prst="rect">
            <a:avLst/>
          </a:prstGeom>
          <a:noFill/>
          <a:ln/>
        </p:spPr>
        <p:txBody>
          <a:bodyPr wrap="square" rtlCol="0" anchor="ctr"/>
          <a:lstStyle/>
          <a:p>
            <a:pPr algn="ctr" indent="0" marL="0">
              <a:buNone/>
            </a:pPr>
            <a:r>
              <a:rPr lang="en-US" sz="900" dirty="0">
                <a:solidFill>
                  <a:srgbClr val="FFE0DC"/>
                </a:solidFill>
                <a:latin typeface="Arial" pitchFamily="34" charset="0"/>
                <a:ea typeface="Arial" pitchFamily="34" charset="-122"/>
                <a:cs typeface="Arial" pitchFamily="34" charset="-120"/>
              </a:rPr>
              <a:t>Lead Conversie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www\cost-of-retreival-reducer\tmp\presentation\slides\brightlot-light.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57200" y="182880"/>
            <a:ext cx="8229600" cy="457200"/>
          </a:xfrm>
          <a:prstGeom prst="rect">
            <a:avLst/>
          </a:prstGeom>
          <a:noFill/>
          <a:ln/>
        </p:spPr>
        <p:txBody>
          <a:bodyPr wrap="square" rtlCol="0" anchor="ctr"/>
          <a:lstStyle/>
          <a:p>
            <a:pPr algn="ctr" indent="0" marL="0">
              <a:buNone/>
            </a:pPr>
            <a:r>
              <a:rPr lang="en-US" sz="2600" b="1" dirty="0">
                <a:solidFill>
                  <a:srgbClr val="131415"/>
                </a:solidFill>
                <a:latin typeface="Arial" pitchFamily="34" charset="0"/>
                <a:ea typeface="Arial" pitchFamily="34" charset="-122"/>
                <a:cs typeface="Arial" pitchFamily="34" charset="-120"/>
              </a:rPr>
              <a:t>ROI VOOR BRIGHTLOT</a:t>
            </a:r>
            <a:endParaRPr lang="en-US" sz="2600" dirty="0"/>
          </a:p>
        </p:txBody>
      </p:sp>
      <p:sp>
        <p:nvSpPr>
          <p:cNvPr id="4" name="Text 1"/>
          <p:cNvSpPr/>
          <p:nvPr/>
        </p:nvSpPr>
        <p:spPr>
          <a:xfrm>
            <a:off x="457200" y="594360"/>
            <a:ext cx="8229600" cy="274320"/>
          </a:xfrm>
          <a:prstGeom prst="rect">
            <a:avLst/>
          </a:prstGeom>
          <a:noFill/>
          <a:ln/>
        </p:spPr>
        <p:txBody>
          <a:bodyPr wrap="square" rtlCol="0" anchor="ctr"/>
          <a:lstStyle/>
          <a:p>
            <a:pPr algn="ctr" indent="0" marL="0">
              <a:buNone/>
            </a:pPr>
            <a:r>
              <a:rPr lang="en-US" sz="1200" dirty="0">
                <a:solidFill>
                  <a:srgbClr val="6B7280"/>
                </a:solidFill>
                <a:latin typeface="Arial" pitchFamily="34" charset="0"/>
                <a:ea typeface="Arial" pitchFamily="34" charset="-122"/>
                <a:cs typeface="Arial" pitchFamily="34" charset="-120"/>
              </a:rPr>
              <a:t>Wat betekent dit voor jullie klanten?</a:t>
            </a:r>
            <a:endParaRPr lang="en-US" sz="1200" dirty="0"/>
          </a:p>
        </p:txBody>
      </p:sp>
      <p:sp>
        <p:nvSpPr>
          <p:cNvPr id="5" name="Shape 2"/>
          <p:cNvSpPr/>
          <p:nvPr/>
        </p:nvSpPr>
        <p:spPr>
          <a:xfrm>
            <a:off x="365760" y="960120"/>
            <a:ext cx="4114800" cy="3200400"/>
          </a:xfrm>
          <a:prstGeom prst="roundRect">
            <a:avLst>
              <a:gd name="adj" fmla="val 3429"/>
            </a:avLst>
          </a:prstGeom>
          <a:solidFill>
            <a:srgbClr val="FFFFFF"/>
          </a:solidFill>
          <a:ln/>
          <a:effectLst>
            <a:outerShdw sx="100000" sy="100000" kx="0" ky="0" algn="bl" rotWithShape="0" blurRad="101600" dist="38100" dir="2700000">
              <a:srgbClr val="000000">
                <a:alpha val="12000"/>
              </a:srgbClr>
            </a:outerShdw>
          </a:effectLst>
        </p:spPr>
      </p:sp>
      <p:sp>
        <p:nvSpPr>
          <p:cNvPr id="6" name="Text 3"/>
          <p:cNvSpPr/>
          <p:nvPr/>
        </p:nvSpPr>
        <p:spPr>
          <a:xfrm>
            <a:off x="365760" y="1097280"/>
            <a:ext cx="4114800" cy="365760"/>
          </a:xfrm>
          <a:prstGeom prst="rect">
            <a:avLst/>
          </a:prstGeom>
          <a:noFill/>
          <a:ln/>
        </p:spPr>
        <p:txBody>
          <a:bodyPr wrap="square" rtlCol="0" anchor="ctr"/>
          <a:lstStyle/>
          <a:p>
            <a:pPr algn="ctr" indent="0" marL="0">
              <a:buNone/>
            </a:pPr>
            <a:r>
              <a:rPr lang="en-US" sz="1400" b="1" dirty="0">
                <a:solidFill>
                  <a:srgbClr val="FE3B1F"/>
                </a:solidFill>
                <a:latin typeface="Arial" pitchFamily="34" charset="0"/>
                <a:ea typeface="Arial" pitchFamily="34" charset="-122"/>
                <a:cs typeface="Arial" pitchFamily="34" charset="-120"/>
              </a:rPr>
              <a:t>PER PROJECT</a:t>
            </a:r>
            <a:endParaRPr lang="en-US" sz="1400" dirty="0"/>
          </a:p>
        </p:txBody>
      </p:sp>
      <p:sp>
        <p:nvSpPr>
          <p:cNvPr id="7" name="Text 4"/>
          <p:cNvSpPr/>
          <p:nvPr/>
        </p:nvSpPr>
        <p:spPr>
          <a:xfrm>
            <a:off x="548640" y="1554480"/>
            <a:ext cx="256032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Content creatie traditioneel</a:t>
            </a:r>
            <a:endParaRPr lang="en-US" sz="1000" dirty="0"/>
          </a:p>
        </p:txBody>
      </p:sp>
      <p:sp>
        <p:nvSpPr>
          <p:cNvPr id="8" name="Text 5"/>
          <p:cNvSpPr/>
          <p:nvPr/>
        </p:nvSpPr>
        <p:spPr>
          <a:xfrm>
            <a:off x="3108960" y="1554480"/>
            <a:ext cx="1188720" cy="274320"/>
          </a:xfrm>
          <a:prstGeom prst="rect">
            <a:avLst/>
          </a:prstGeom>
          <a:noFill/>
          <a:ln/>
        </p:spPr>
        <p:txBody>
          <a:bodyPr wrap="square" rtlCol="0" anchor="ctr"/>
          <a:lstStyle/>
          <a:p>
            <a:pPr algn="r" indent="0" marL="0">
              <a:buNone/>
            </a:pPr>
            <a:r>
              <a:rPr lang="en-US" sz="1100" b="1" dirty="0">
                <a:solidFill>
                  <a:srgbClr val="131415"/>
                </a:solidFill>
                <a:latin typeface="Arial" pitchFamily="34" charset="0"/>
                <a:ea typeface="Arial" pitchFamily="34" charset="-122"/>
                <a:cs typeface="Arial" pitchFamily="34" charset="-120"/>
              </a:rPr>
              <a:t>40 uur</a:t>
            </a:r>
            <a:endParaRPr lang="en-US" sz="1100" dirty="0"/>
          </a:p>
        </p:txBody>
      </p:sp>
      <p:sp>
        <p:nvSpPr>
          <p:cNvPr id="9" name="Text 6"/>
          <p:cNvSpPr/>
          <p:nvPr/>
        </p:nvSpPr>
        <p:spPr>
          <a:xfrm>
            <a:off x="548640" y="2148840"/>
            <a:ext cx="256032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Met Holistic SEO Workbench</a:t>
            </a:r>
            <a:endParaRPr lang="en-US" sz="1000" dirty="0"/>
          </a:p>
        </p:txBody>
      </p:sp>
      <p:sp>
        <p:nvSpPr>
          <p:cNvPr id="10" name="Text 7"/>
          <p:cNvSpPr/>
          <p:nvPr/>
        </p:nvSpPr>
        <p:spPr>
          <a:xfrm>
            <a:off x="3108960" y="2148840"/>
            <a:ext cx="1188720" cy="274320"/>
          </a:xfrm>
          <a:prstGeom prst="rect">
            <a:avLst/>
          </a:prstGeom>
          <a:noFill/>
          <a:ln/>
        </p:spPr>
        <p:txBody>
          <a:bodyPr wrap="square" rtlCol="0" anchor="ctr"/>
          <a:lstStyle/>
          <a:p>
            <a:pPr algn="r" indent="0" marL="0">
              <a:buNone/>
            </a:pPr>
            <a:r>
              <a:rPr lang="en-US" sz="1100" b="1" dirty="0">
                <a:solidFill>
                  <a:srgbClr val="131415"/>
                </a:solidFill>
                <a:latin typeface="Arial" pitchFamily="34" charset="0"/>
                <a:ea typeface="Arial" pitchFamily="34" charset="-122"/>
                <a:cs typeface="Arial" pitchFamily="34" charset="-120"/>
              </a:rPr>
              <a:t>8 uur</a:t>
            </a:r>
            <a:endParaRPr lang="en-US" sz="1100" dirty="0"/>
          </a:p>
        </p:txBody>
      </p:sp>
      <p:sp>
        <p:nvSpPr>
          <p:cNvPr id="11" name="Text 8"/>
          <p:cNvSpPr/>
          <p:nvPr/>
        </p:nvSpPr>
        <p:spPr>
          <a:xfrm>
            <a:off x="548640" y="2743200"/>
            <a:ext cx="256032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Tijdsbesparing</a:t>
            </a:r>
            <a:endParaRPr lang="en-US" sz="1000" dirty="0"/>
          </a:p>
        </p:txBody>
      </p:sp>
      <p:sp>
        <p:nvSpPr>
          <p:cNvPr id="12" name="Text 9"/>
          <p:cNvSpPr/>
          <p:nvPr/>
        </p:nvSpPr>
        <p:spPr>
          <a:xfrm>
            <a:off x="3108960" y="2743200"/>
            <a:ext cx="1188720" cy="274320"/>
          </a:xfrm>
          <a:prstGeom prst="rect">
            <a:avLst/>
          </a:prstGeom>
          <a:noFill/>
          <a:ln/>
        </p:spPr>
        <p:txBody>
          <a:bodyPr wrap="square" rtlCol="0" anchor="ctr"/>
          <a:lstStyle/>
          <a:p>
            <a:pPr algn="r" indent="0" marL="0">
              <a:buNone/>
            </a:pPr>
            <a:r>
              <a:rPr lang="en-US" sz="1100" b="1" dirty="0">
                <a:solidFill>
                  <a:srgbClr val="10B981"/>
                </a:solidFill>
                <a:latin typeface="Arial" pitchFamily="34" charset="0"/>
                <a:ea typeface="Arial" pitchFamily="34" charset="-122"/>
                <a:cs typeface="Arial" pitchFamily="34" charset="-120"/>
              </a:rPr>
              <a:t>32 uur</a:t>
            </a:r>
            <a:endParaRPr lang="en-US" sz="1100" dirty="0"/>
          </a:p>
        </p:txBody>
      </p:sp>
      <p:sp>
        <p:nvSpPr>
          <p:cNvPr id="13" name="Text 10"/>
          <p:cNvSpPr/>
          <p:nvPr/>
        </p:nvSpPr>
        <p:spPr>
          <a:xfrm>
            <a:off x="548640" y="3337560"/>
            <a:ext cx="256032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Extra waarde voor klant</a:t>
            </a:r>
            <a:endParaRPr lang="en-US" sz="1000" dirty="0"/>
          </a:p>
        </p:txBody>
      </p:sp>
      <p:sp>
        <p:nvSpPr>
          <p:cNvPr id="14" name="Text 11"/>
          <p:cNvSpPr/>
          <p:nvPr/>
        </p:nvSpPr>
        <p:spPr>
          <a:xfrm>
            <a:off x="3108960" y="3337560"/>
            <a:ext cx="1188720" cy="274320"/>
          </a:xfrm>
          <a:prstGeom prst="rect">
            <a:avLst/>
          </a:prstGeom>
          <a:noFill/>
          <a:ln/>
        </p:spPr>
        <p:txBody>
          <a:bodyPr wrap="square" rtlCol="0" anchor="ctr"/>
          <a:lstStyle/>
          <a:p>
            <a:pPr algn="r" indent="0" marL="0">
              <a:buNone/>
            </a:pPr>
            <a:r>
              <a:rPr lang="en-US" sz="1100" b="1" dirty="0">
                <a:solidFill>
                  <a:srgbClr val="FE3B1F"/>
                </a:solidFill>
                <a:latin typeface="Arial" pitchFamily="34" charset="0"/>
                <a:ea typeface="Arial" pitchFamily="34" charset="-122"/>
                <a:cs typeface="Arial" pitchFamily="34" charset="-120"/>
              </a:rPr>
              <a:t>SEO-ready content</a:t>
            </a:r>
            <a:endParaRPr lang="en-US" sz="1100" dirty="0"/>
          </a:p>
        </p:txBody>
      </p:sp>
      <p:sp>
        <p:nvSpPr>
          <p:cNvPr id="15" name="Shape 12"/>
          <p:cNvSpPr/>
          <p:nvPr/>
        </p:nvSpPr>
        <p:spPr>
          <a:xfrm>
            <a:off x="4663440" y="960120"/>
            <a:ext cx="4114800" cy="3200400"/>
          </a:xfrm>
          <a:prstGeom prst="roundRect">
            <a:avLst>
              <a:gd name="adj" fmla="val 3429"/>
            </a:avLst>
          </a:prstGeom>
          <a:solidFill>
            <a:srgbClr val="FE3B1F"/>
          </a:solidFill>
          <a:ln/>
          <a:effectLst>
            <a:outerShdw sx="100000" sy="100000" kx="0" ky="0" algn="bl" rotWithShape="0" blurRad="101600" dist="38100" dir="2700000">
              <a:srgbClr val="000000">
                <a:alpha val="12000"/>
              </a:srgbClr>
            </a:outerShdw>
          </a:effectLst>
        </p:spPr>
      </p:sp>
      <p:sp>
        <p:nvSpPr>
          <p:cNvPr id="16" name="Text 13"/>
          <p:cNvSpPr/>
          <p:nvPr/>
        </p:nvSpPr>
        <p:spPr>
          <a:xfrm>
            <a:off x="4663440" y="1097280"/>
            <a:ext cx="411480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AGENCY SCHAAL</a:t>
            </a:r>
            <a:endParaRPr lang="en-US" sz="1400" dirty="0"/>
          </a:p>
        </p:txBody>
      </p:sp>
      <p:sp>
        <p:nvSpPr>
          <p:cNvPr id="17" name="Text 14"/>
          <p:cNvSpPr/>
          <p:nvPr/>
        </p:nvSpPr>
        <p:spPr>
          <a:xfrm>
            <a:off x="4663440" y="1417320"/>
            <a:ext cx="4114800" cy="274320"/>
          </a:xfrm>
          <a:prstGeom prst="rect">
            <a:avLst/>
          </a:prstGeom>
          <a:noFill/>
          <a:ln/>
        </p:spPr>
        <p:txBody>
          <a:bodyPr wrap="square" rtlCol="0" anchor="ctr"/>
          <a:lstStyle/>
          <a:p>
            <a:pPr algn="ctr" indent="0" marL="0">
              <a:buNone/>
            </a:pPr>
            <a:r>
              <a:rPr lang="en-US" sz="1000" dirty="0">
                <a:solidFill>
                  <a:srgbClr val="FFE0DC"/>
                </a:solidFill>
                <a:latin typeface="Arial" pitchFamily="34" charset="0"/>
                <a:ea typeface="Arial" pitchFamily="34" charset="-122"/>
                <a:cs typeface="Arial" pitchFamily="34" charset="-120"/>
              </a:rPr>
              <a:t>Bij 10 projecten per jaar:</a:t>
            </a:r>
            <a:endParaRPr lang="en-US" sz="1000" dirty="0"/>
          </a:p>
        </p:txBody>
      </p:sp>
      <p:sp>
        <p:nvSpPr>
          <p:cNvPr id="18" name="Text 15"/>
          <p:cNvSpPr/>
          <p:nvPr/>
        </p:nvSpPr>
        <p:spPr>
          <a:xfrm>
            <a:off x="4846320" y="1783080"/>
            <a:ext cx="2286000" cy="274320"/>
          </a:xfrm>
          <a:prstGeom prst="rect">
            <a:avLst/>
          </a:prstGeom>
          <a:noFill/>
          <a:ln/>
        </p:spPr>
        <p:txBody>
          <a:bodyPr wrap="square" rtlCol="0" anchor="ctr"/>
          <a:lstStyle/>
          <a:p>
            <a:pPr indent="0" marL="0">
              <a:buNone/>
            </a:pPr>
            <a:r>
              <a:rPr lang="en-US" sz="1000" dirty="0">
                <a:solidFill>
                  <a:srgbClr val="FFE0DC"/>
                </a:solidFill>
                <a:latin typeface="Arial" pitchFamily="34" charset="0"/>
                <a:ea typeface="Arial" pitchFamily="34" charset="-122"/>
                <a:cs typeface="Arial" pitchFamily="34" charset="-120"/>
              </a:rPr>
              <a:t>Uren bespaard</a:t>
            </a:r>
            <a:endParaRPr lang="en-US" sz="1000" dirty="0"/>
          </a:p>
        </p:txBody>
      </p:sp>
      <p:sp>
        <p:nvSpPr>
          <p:cNvPr id="19" name="Text 16"/>
          <p:cNvSpPr/>
          <p:nvPr/>
        </p:nvSpPr>
        <p:spPr>
          <a:xfrm>
            <a:off x="7132320" y="1783080"/>
            <a:ext cx="1463040" cy="274320"/>
          </a:xfrm>
          <a:prstGeom prst="rect">
            <a:avLst/>
          </a:prstGeom>
          <a:noFill/>
          <a:ln/>
        </p:spPr>
        <p:txBody>
          <a:bodyPr wrap="square" rtlCol="0" anchor="ctr"/>
          <a:lstStyle/>
          <a:p>
            <a:pPr algn="r" indent="0" marL="0">
              <a:buNone/>
            </a:pPr>
            <a:r>
              <a:rPr lang="en-US" sz="1100" b="1" dirty="0">
                <a:solidFill>
                  <a:srgbClr val="FFFFFF"/>
                </a:solidFill>
                <a:latin typeface="Arial" pitchFamily="34" charset="0"/>
                <a:ea typeface="Arial" pitchFamily="34" charset="-122"/>
                <a:cs typeface="Arial" pitchFamily="34" charset="-120"/>
              </a:rPr>
              <a:t>320 uur/jaar</a:t>
            </a:r>
            <a:endParaRPr lang="en-US" sz="1100" dirty="0"/>
          </a:p>
        </p:txBody>
      </p:sp>
      <p:sp>
        <p:nvSpPr>
          <p:cNvPr id="20" name="Text 17"/>
          <p:cNvSpPr/>
          <p:nvPr/>
        </p:nvSpPr>
        <p:spPr>
          <a:xfrm>
            <a:off x="4846320" y="2377440"/>
            <a:ext cx="2286000" cy="274320"/>
          </a:xfrm>
          <a:prstGeom prst="rect">
            <a:avLst/>
          </a:prstGeom>
          <a:noFill/>
          <a:ln/>
        </p:spPr>
        <p:txBody>
          <a:bodyPr wrap="square" rtlCol="0" anchor="ctr"/>
          <a:lstStyle/>
          <a:p>
            <a:pPr indent="0" marL="0">
              <a:buNone/>
            </a:pPr>
            <a:r>
              <a:rPr lang="en-US" sz="1000" dirty="0">
                <a:solidFill>
                  <a:srgbClr val="FFE0DC"/>
                </a:solidFill>
                <a:latin typeface="Arial" pitchFamily="34" charset="0"/>
                <a:ea typeface="Arial" pitchFamily="34" charset="-122"/>
                <a:cs typeface="Arial" pitchFamily="34" charset="-120"/>
              </a:rPr>
              <a:t>Extra omzet mogelijk</a:t>
            </a:r>
            <a:endParaRPr lang="en-US" sz="1000" dirty="0"/>
          </a:p>
        </p:txBody>
      </p:sp>
      <p:sp>
        <p:nvSpPr>
          <p:cNvPr id="21" name="Text 18"/>
          <p:cNvSpPr/>
          <p:nvPr/>
        </p:nvSpPr>
        <p:spPr>
          <a:xfrm>
            <a:off x="7132320" y="2377440"/>
            <a:ext cx="1463040" cy="274320"/>
          </a:xfrm>
          <a:prstGeom prst="rect">
            <a:avLst/>
          </a:prstGeom>
          <a:noFill/>
          <a:ln/>
        </p:spPr>
        <p:txBody>
          <a:bodyPr wrap="square" rtlCol="0" anchor="ctr"/>
          <a:lstStyle/>
          <a:p>
            <a:pPr algn="r" indent="0" marL="0">
              <a:buNone/>
            </a:pPr>
            <a:r>
              <a:rPr lang="en-US" sz="1100" b="1" dirty="0">
                <a:solidFill>
                  <a:srgbClr val="FFFFFF"/>
                </a:solidFill>
                <a:latin typeface="Arial" pitchFamily="34" charset="0"/>
                <a:ea typeface="Arial" pitchFamily="34" charset="-122"/>
                <a:cs typeface="Arial" pitchFamily="34" charset="-120"/>
              </a:rPr>
              <a:t>2-3 projecten</a:t>
            </a:r>
            <a:endParaRPr lang="en-US" sz="1100" dirty="0"/>
          </a:p>
        </p:txBody>
      </p:sp>
      <p:sp>
        <p:nvSpPr>
          <p:cNvPr id="22" name="Text 19"/>
          <p:cNvSpPr/>
          <p:nvPr/>
        </p:nvSpPr>
        <p:spPr>
          <a:xfrm>
            <a:off x="4846320" y="2971800"/>
            <a:ext cx="2286000" cy="274320"/>
          </a:xfrm>
          <a:prstGeom prst="rect">
            <a:avLst/>
          </a:prstGeom>
          <a:noFill/>
          <a:ln/>
        </p:spPr>
        <p:txBody>
          <a:bodyPr wrap="square" rtlCol="0" anchor="ctr"/>
          <a:lstStyle/>
          <a:p>
            <a:pPr indent="0" marL="0">
              <a:buNone/>
            </a:pPr>
            <a:r>
              <a:rPr lang="en-US" sz="1000" dirty="0">
                <a:solidFill>
                  <a:srgbClr val="FFE0DC"/>
                </a:solidFill>
                <a:latin typeface="Arial" pitchFamily="34" charset="0"/>
                <a:ea typeface="Arial" pitchFamily="34" charset="-122"/>
                <a:cs typeface="Arial" pitchFamily="34" charset="-120"/>
              </a:rPr>
              <a:t>Hogere klanttevredenheid</a:t>
            </a:r>
            <a:endParaRPr lang="en-US" sz="1000" dirty="0"/>
          </a:p>
        </p:txBody>
      </p:sp>
      <p:sp>
        <p:nvSpPr>
          <p:cNvPr id="23" name="Text 20"/>
          <p:cNvSpPr/>
          <p:nvPr/>
        </p:nvSpPr>
        <p:spPr>
          <a:xfrm>
            <a:off x="7132320" y="2971800"/>
            <a:ext cx="1463040" cy="274320"/>
          </a:xfrm>
          <a:prstGeom prst="rect">
            <a:avLst/>
          </a:prstGeom>
          <a:noFill/>
          <a:ln/>
        </p:spPr>
        <p:txBody>
          <a:bodyPr wrap="square" rtlCol="0" anchor="ctr"/>
          <a:lstStyle/>
          <a:p>
            <a:pPr algn="r" indent="0" marL="0">
              <a:buNone/>
            </a:pPr>
            <a:r>
              <a:rPr lang="en-US" sz="1100" b="1" dirty="0">
                <a:solidFill>
                  <a:srgbClr val="FFFFFF"/>
                </a:solidFill>
                <a:latin typeface="Arial" pitchFamily="34" charset="0"/>
                <a:ea typeface="Arial" pitchFamily="34" charset="-122"/>
                <a:cs typeface="Arial" pitchFamily="34" charset="-120"/>
              </a:rPr>
              <a:t>Meetbare resultaten</a:t>
            </a:r>
            <a:endParaRPr lang="en-US" sz="1100" dirty="0"/>
          </a:p>
        </p:txBody>
      </p:sp>
      <p:sp>
        <p:nvSpPr>
          <p:cNvPr id="24" name="Text 21"/>
          <p:cNvSpPr/>
          <p:nvPr/>
        </p:nvSpPr>
        <p:spPr>
          <a:xfrm>
            <a:off x="4846320" y="3566160"/>
            <a:ext cx="2286000" cy="274320"/>
          </a:xfrm>
          <a:prstGeom prst="rect">
            <a:avLst/>
          </a:prstGeom>
          <a:noFill/>
          <a:ln/>
        </p:spPr>
        <p:txBody>
          <a:bodyPr wrap="square" rtlCol="0" anchor="ctr"/>
          <a:lstStyle/>
          <a:p>
            <a:pPr indent="0" marL="0">
              <a:buNone/>
            </a:pPr>
            <a:r>
              <a:rPr lang="en-US" sz="1000" dirty="0">
                <a:solidFill>
                  <a:srgbClr val="FFE0DC"/>
                </a:solidFill>
                <a:latin typeface="Arial" pitchFamily="34" charset="0"/>
                <a:ea typeface="Arial" pitchFamily="34" charset="-122"/>
                <a:cs typeface="Arial" pitchFamily="34" charset="-120"/>
              </a:rPr>
              <a:t>Nieuwe dienst</a:t>
            </a:r>
            <a:endParaRPr lang="en-US" sz="1000" dirty="0"/>
          </a:p>
        </p:txBody>
      </p:sp>
      <p:sp>
        <p:nvSpPr>
          <p:cNvPr id="25" name="Text 22"/>
          <p:cNvSpPr/>
          <p:nvPr/>
        </p:nvSpPr>
        <p:spPr>
          <a:xfrm>
            <a:off x="7132320" y="3566160"/>
            <a:ext cx="1463040" cy="274320"/>
          </a:xfrm>
          <a:prstGeom prst="rect">
            <a:avLst/>
          </a:prstGeom>
          <a:noFill/>
          <a:ln/>
        </p:spPr>
        <p:txBody>
          <a:bodyPr wrap="square" rtlCol="0" anchor="ctr"/>
          <a:lstStyle/>
          <a:p>
            <a:pPr algn="r" indent="0" marL="0">
              <a:buNone/>
            </a:pPr>
            <a:r>
              <a:rPr lang="en-US" sz="1100" b="1" dirty="0">
                <a:solidFill>
                  <a:srgbClr val="FFFFFF"/>
                </a:solidFill>
                <a:latin typeface="Arial" pitchFamily="34" charset="0"/>
                <a:ea typeface="Arial" pitchFamily="34" charset="-122"/>
                <a:cs typeface="Arial" pitchFamily="34" charset="-120"/>
              </a:rPr>
              <a:t>SEO Content Pakket</a:t>
            </a:r>
            <a:endParaRPr lang="en-US" sz="1100" dirty="0"/>
          </a:p>
        </p:txBody>
      </p:sp>
      <p:sp>
        <p:nvSpPr>
          <p:cNvPr id="26" name="Text 23"/>
          <p:cNvSpPr/>
          <p:nvPr/>
        </p:nvSpPr>
        <p:spPr>
          <a:xfrm>
            <a:off x="457200" y="4343400"/>
            <a:ext cx="8229600" cy="274320"/>
          </a:xfrm>
          <a:prstGeom prst="rect">
            <a:avLst/>
          </a:prstGeom>
          <a:noFill/>
          <a:ln/>
        </p:spPr>
        <p:txBody>
          <a:bodyPr wrap="square" rtlCol="0" anchor="ctr"/>
          <a:lstStyle/>
          <a:p>
            <a:pPr algn="ctr" indent="0" marL="0">
              <a:buNone/>
            </a:pPr>
            <a:r>
              <a:rPr lang="en-US" sz="900" i="1" dirty="0">
                <a:solidFill>
                  <a:srgbClr val="6B7280"/>
                </a:solidFill>
                <a:latin typeface="Arial" pitchFamily="34" charset="0"/>
                <a:ea typeface="Arial" pitchFamily="34" charset="-122"/>
                <a:cs typeface="Arial" pitchFamily="34" charset="-120"/>
              </a:rPr>
              <a:t>* Investering verdient zich terug binnen eerste project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www\cost-of-retreival-reducer\tmp\presentation\slides\brightlot-dark.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137160" cy="5143500"/>
          </a:xfrm>
          <a:prstGeom prst="rect">
            <a:avLst/>
          </a:prstGeom>
          <a:solidFill>
            <a:srgbClr val="FE3B1F"/>
          </a:solidFill>
          <a:ln/>
        </p:spPr>
      </p:sp>
      <p:sp>
        <p:nvSpPr>
          <p:cNvPr id="4" name="Text 1"/>
          <p:cNvSpPr/>
          <p:nvPr/>
        </p:nvSpPr>
        <p:spPr>
          <a:xfrm>
            <a:off x="457200" y="182880"/>
            <a:ext cx="8229600" cy="457200"/>
          </a:xfrm>
          <a:prstGeom prst="rect">
            <a:avLst/>
          </a:prstGeom>
          <a:noFill/>
          <a:ln/>
        </p:spPr>
        <p:txBody>
          <a:bodyPr wrap="square" rtlCol="0" anchor="ctr"/>
          <a:lstStyle/>
          <a:p>
            <a:pPr algn="ctr" indent="0" marL="0">
              <a:buNone/>
            </a:pPr>
            <a:r>
              <a:rPr lang="en-US" sz="2400" b="1" dirty="0">
                <a:solidFill>
                  <a:srgbClr val="FE3B1F"/>
                </a:solidFill>
                <a:latin typeface="Arial" pitchFamily="34" charset="0"/>
                <a:ea typeface="Arial" pitchFamily="34" charset="-122"/>
                <a:cs typeface="Arial" pitchFamily="34" charset="-120"/>
              </a:rPr>
              <a:t>TOEPASSINGEN VOOR VASTGOED</a:t>
            </a:r>
            <a:endParaRPr lang="en-US" sz="2400" dirty="0"/>
          </a:p>
        </p:txBody>
      </p:sp>
      <p:sp>
        <p:nvSpPr>
          <p:cNvPr id="5" name="Shape 2"/>
          <p:cNvSpPr/>
          <p:nvPr/>
        </p:nvSpPr>
        <p:spPr>
          <a:xfrm>
            <a:off x="457200" y="777240"/>
            <a:ext cx="2743200" cy="3474720"/>
          </a:xfrm>
          <a:prstGeom prst="roundRect">
            <a:avLst>
              <a:gd name="adj" fmla="val 3333"/>
            </a:avLst>
          </a:prstGeom>
          <a:solidFill>
            <a:srgbClr val="243B42"/>
          </a:solidFill>
          <a:ln w="12700">
            <a:solidFill>
              <a:srgbClr val="FE3B1F"/>
            </a:solidFill>
            <a:prstDash val="solid"/>
          </a:ln>
        </p:spPr>
      </p:sp>
      <p:sp>
        <p:nvSpPr>
          <p:cNvPr id="6" name="Text 3"/>
          <p:cNvSpPr/>
          <p:nvPr/>
        </p:nvSpPr>
        <p:spPr>
          <a:xfrm>
            <a:off x="594360" y="914400"/>
            <a:ext cx="2468880" cy="365760"/>
          </a:xfrm>
          <a:prstGeom prst="rect">
            <a:avLst/>
          </a:prstGeom>
          <a:noFill/>
          <a:ln/>
        </p:spPr>
        <p:txBody>
          <a:bodyPr wrap="square" rtlCol="0" anchor="ctr"/>
          <a:lstStyle/>
          <a:p>
            <a:pPr algn="ctr" indent="0" marL="0">
              <a:buNone/>
            </a:pPr>
            <a:r>
              <a:rPr lang="en-US" sz="1300" b="1" dirty="0">
                <a:solidFill>
                  <a:srgbClr val="FE3B1F"/>
                </a:solidFill>
                <a:latin typeface="Arial" pitchFamily="34" charset="0"/>
                <a:ea typeface="Arial" pitchFamily="34" charset="-122"/>
                <a:cs typeface="Arial" pitchFamily="34" charset="-120"/>
              </a:rPr>
              <a:t>Projectwebsites</a:t>
            </a:r>
            <a:endParaRPr lang="en-US" sz="1300" dirty="0"/>
          </a:p>
        </p:txBody>
      </p:sp>
      <p:sp>
        <p:nvSpPr>
          <p:cNvPr id="7" name="Text 4"/>
          <p:cNvSpPr/>
          <p:nvPr/>
        </p:nvSpPr>
        <p:spPr>
          <a:xfrm>
            <a:off x="640080" y="1371600"/>
            <a:ext cx="2377440" cy="3657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Landingspaginas per woning</a:t>
            </a:r>
            <a:endParaRPr lang="en-US" sz="1000" dirty="0"/>
          </a:p>
        </p:txBody>
      </p:sp>
      <p:sp>
        <p:nvSpPr>
          <p:cNvPr id="8" name="Text 5"/>
          <p:cNvSpPr/>
          <p:nvPr/>
        </p:nvSpPr>
        <p:spPr>
          <a:xfrm>
            <a:off x="640080" y="1874520"/>
            <a:ext cx="2377440" cy="3657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Buurtinformatie content</a:t>
            </a:r>
            <a:endParaRPr lang="en-US" sz="1000" dirty="0"/>
          </a:p>
        </p:txBody>
      </p:sp>
      <p:sp>
        <p:nvSpPr>
          <p:cNvPr id="9" name="Text 6"/>
          <p:cNvSpPr/>
          <p:nvPr/>
        </p:nvSpPr>
        <p:spPr>
          <a:xfrm>
            <a:off x="640080" y="2377440"/>
            <a:ext cx="2377440" cy="3657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FAQ secties voor kopers</a:t>
            </a:r>
            <a:endParaRPr lang="en-US" sz="1000" dirty="0"/>
          </a:p>
        </p:txBody>
      </p:sp>
      <p:sp>
        <p:nvSpPr>
          <p:cNvPr id="10" name="Text 7"/>
          <p:cNvSpPr/>
          <p:nvPr/>
        </p:nvSpPr>
        <p:spPr>
          <a:xfrm>
            <a:off x="640080" y="2880360"/>
            <a:ext cx="2377440" cy="3657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Duurzaamheid &amp; kenmerken</a:t>
            </a:r>
            <a:endParaRPr lang="en-US" sz="1000" dirty="0"/>
          </a:p>
        </p:txBody>
      </p:sp>
      <p:sp>
        <p:nvSpPr>
          <p:cNvPr id="11" name="Shape 8"/>
          <p:cNvSpPr/>
          <p:nvPr/>
        </p:nvSpPr>
        <p:spPr>
          <a:xfrm>
            <a:off x="3337560" y="777240"/>
            <a:ext cx="2743200" cy="3474720"/>
          </a:xfrm>
          <a:prstGeom prst="roundRect">
            <a:avLst>
              <a:gd name="adj" fmla="val 3333"/>
            </a:avLst>
          </a:prstGeom>
          <a:solidFill>
            <a:srgbClr val="243B42"/>
          </a:solidFill>
          <a:ln w="12700">
            <a:solidFill>
              <a:srgbClr val="FE3B1F"/>
            </a:solidFill>
            <a:prstDash val="solid"/>
          </a:ln>
        </p:spPr>
      </p:sp>
      <p:sp>
        <p:nvSpPr>
          <p:cNvPr id="12" name="Text 9"/>
          <p:cNvSpPr/>
          <p:nvPr/>
        </p:nvSpPr>
        <p:spPr>
          <a:xfrm>
            <a:off x="3474720" y="914400"/>
            <a:ext cx="2468880" cy="365760"/>
          </a:xfrm>
          <a:prstGeom prst="rect">
            <a:avLst/>
          </a:prstGeom>
          <a:noFill/>
          <a:ln/>
        </p:spPr>
        <p:txBody>
          <a:bodyPr wrap="square" rtlCol="0" anchor="ctr"/>
          <a:lstStyle/>
          <a:p>
            <a:pPr algn="ctr" indent="0" marL="0">
              <a:buNone/>
            </a:pPr>
            <a:r>
              <a:rPr lang="en-US" sz="1300" b="1" dirty="0">
                <a:solidFill>
                  <a:srgbClr val="FE3B1F"/>
                </a:solidFill>
                <a:latin typeface="Arial" pitchFamily="34" charset="0"/>
                <a:ea typeface="Arial" pitchFamily="34" charset="-122"/>
                <a:cs typeface="Arial" pitchFamily="34" charset="-120"/>
              </a:rPr>
              <a:t>Nieuwbouw Marketing</a:t>
            </a:r>
            <a:endParaRPr lang="en-US" sz="1300" dirty="0"/>
          </a:p>
        </p:txBody>
      </p:sp>
      <p:sp>
        <p:nvSpPr>
          <p:cNvPr id="13" name="Text 10"/>
          <p:cNvSpPr/>
          <p:nvPr/>
        </p:nvSpPr>
        <p:spPr>
          <a:xfrm>
            <a:off x="3520440" y="1371600"/>
            <a:ext cx="2377440" cy="3657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Fase-specifieke content</a:t>
            </a:r>
            <a:endParaRPr lang="en-US" sz="1000" dirty="0"/>
          </a:p>
        </p:txBody>
      </p:sp>
      <p:sp>
        <p:nvSpPr>
          <p:cNvPr id="14" name="Text 11"/>
          <p:cNvSpPr/>
          <p:nvPr/>
        </p:nvSpPr>
        <p:spPr>
          <a:xfrm>
            <a:off x="3520440" y="1874520"/>
            <a:ext cx="2377440" cy="3657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Wachtlijst paginas</a:t>
            </a:r>
            <a:endParaRPr lang="en-US" sz="1000" dirty="0"/>
          </a:p>
        </p:txBody>
      </p:sp>
      <p:sp>
        <p:nvSpPr>
          <p:cNvPr id="15" name="Text 12"/>
          <p:cNvSpPr/>
          <p:nvPr/>
        </p:nvSpPr>
        <p:spPr>
          <a:xfrm>
            <a:off x="3520440" y="2377440"/>
            <a:ext cx="2377440" cy="3657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Beleggerspaginas</a:t>
            </a:r>
            <a:endParaRPr lang="en-US" sz="1000" dirty="0"/>
          </a:p>
        </p:txBody>
      </p:sp>
      <p:sp>
        <p:nvSpPr>
          <p:cNvPr id="16" name="Text 13"/>
          <p:cNvSpPr/>
          <p:nvPr/>
        </p:nvSpPr>
        <p:spPr>
          <a:xfrm>
            <a:off x="3520440" y="2880360"/>
            <a:ext cx="2377440" cy="3657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Prijslijst content</a:t>
            </a:r>
            <a:endParaRPr lang="en-US" sz="1000" dirty="0"/>
          </a:p>
        </p:txBody>
      </p:sp>
      <p:sp>
        <p:nvSpPr>
          <p:cNvPr id="17" name="Shape 14"/>
          <p:cNvSpPr/>
          <p:nvPr/>
        </p:nvSpPr>
        <p:spPr>
          <a:xfrm>
            <a:off x="6217920" y="777240"/>
            <a:ext cx="2743200" cy="3474720"/>
          </a:xfrm>
          <a:prstGeom prst="roundRect">
            <a:avLst>
              <a:gd name="adj" fmla="val 3333"/>
            </a:avLst>
          </a:prstGeom>
          <a:solidFill>
            <a:srgbClr val="243B42"/>
          </a:solidFill>
          <a:ln w="12700">
            <a:solidFill>
              <a:srgbClr val="FE3B1F"/>
            </a:solidFill>
            <a:prstDash val="solid"/>
          </a:ln>
        </p:spPr>
      </p:sp>
      <p:sp>
        <p:nvSpPr>
          <p:cNvPr id="18" name="Text 15"/>
          <p:cNvSpPr/>
          <p:nvPr/>
        </p:nvSpPr>
        <p:spPr>
          <a:xfrm>
            <a:off x="6355080" y="914400"/>
            <a:ext cx="2468880" cy="365760"/>
          </a:xfrm>
          <a:prstGeom prst="rect">
            <a:avLst/>
          </a:prstGeom>
          <a:noFill/>
          <a:ln/>
        </p:spPr>
        <p:txBody>
          <a:bodyPr wrap="square" rtlCol="0" anchor="ctr"/>
          <a:lstStyle/>
          <a:p>
            <a:pPr algn="ctr" indent="0" marL="0">
              <a:buNone/>
            </a:pPr>
            <a:r>
              <a:rPr lang="en-US" sz="1300" b="1" dirty="0">
                <a:solidFill>
                  <a:srgbClr val="FE3B1F"/>
                </a:solidFill>
                <a:latin typeface="Arial" pitchFamily="34" charset="0"/>
                <a:ea typeface="Arial" pitchFamily="34" charset="-122"/>
                <a:cs typeface="Arial" pitchFamily="34" charset="-120"/>
              </a:rPr>
              <a:t>Verhuur &amp; Beheer</a:t>
            </a:r>
            <a:endParaRPr lang="en-US" sz="1300" dirty="0"/>
          </a:p>
        </p:txBody>
      </p:sp>
      <p:sp>
        <p:nvSpPr>
          <p:cNvPr id="19" name="Text 16"/>
          <p:cNvSpPr/>
          <p:nvPr/>
        </p:nvSpPr>
        <p:spPr>
          <a:xfrm>
            <a:off x="6400800" y="1371600"/>
            <a:ext cx="2377440" cy="3657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Gebiedsinformatie</a:t>
            </a:r>
            <a:endParaRPr lang="en-US" sz="1000" dirty="0"/>
          </a:p>
        </p:txBody>
      </p:sp>
      <p:sp>
        <p:nvSpPr>
          <p:cNvPr id="20" name="Text 17"/>
          <p:cNvSpPr/>
          <p:nvPr/>
        </p:nvSpPr>
        <p:spPr>
          <a:xfrm>
            <a:off x="6400800" y="1874520"/>
            <a:ext cx="2377440" cy="3657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Voorzieningen beschrijvingen</a:t>
            </a:r>
            <a:endParaRPr lang="en-US" sz="1000" dirty="0"/>
          </a:p>
        </p:txBody>
      </p:sp>
      <p:sp>
        <p:nvSpPr>
          <p:cNvPr id="21" name="Text 18"/>
          <p:cNvSpPr/>
          <p:nvPr/>
        </p:nvSpPr>
        <p:spPr>
          <a:xfrm>
            <a:off x="6400800" y="2377440"/>
            <a:ext cx="2377440" cy="3657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Huurders FAQ</a:t>
            </a:r>
            <a:endParaRPr lang="en-US" sz="1000" dirty="0"/>
          </a:p>
        </p:txBody>
      </p:sp>
      <p:sp>
        <p:nvSpPr>
          <p:cNvPr id="22" name="Text 19"/>
          <p:cNvSpPr/>
          <p:nvPr/>
        </p:nvSpPr>
        <p:spPr>
          <a:xfrm>
            <a:off x="6400800" y="2880360"/>
            <a:ext cx="2377440" cy="36576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Community content</a:t>
            </a:r>
            <a:endParaRPr lang="en-US" sz="1000" dirty="0"/>
          </a:p>
        </p:txBody>
      </p:sp>
      <p:sp>
        <p:nvSpPr>
          <p:cNvPr id="23" name="Text 20"/>
          <p:cNvSpPr/>
          <p:nvPr/>
        </p:nvSpPr>
        <p:spPr>
          <a:xfrm>
            <a:off x="457200" y="4480560"/>
            <a:ext cx="8229600" cy="274320"/>
          </a:xfrm>
          <a:prstGeom prst="rect">
            <a:avLst/>
          </a:prstGeom>
          <a:noFill/>
          <a:ln/>
        </p:spPr>
        <p:txBody>
          <a:bodyPr wrap="square" rtlCol="0" anchor="ctr"/>
          <a:lstStyle/>
          <a:p>
            <a:pPr algn="ctr" indent="0" marL="0">
              <a:buNone/>
            </a:pPr>
            <a:r>
              <a:rPr lang="en-US" sz="1100" b="1" dirty="0">
                <a:solidFill>
                  <a:srgbClr val="10B981"/>
                </a:solidFill>
                <a:latin typeface="Arial" pitchFamily="34" charset="0"/>
                <a:ea typeface="Arial" pitchFamily="34" charset="-122"/>
                <a:cs typeface="Arial" pitchFamily="34" charset="-120"/>
              </a:rPr>
              <a:t>Alle content SEO-geoptimaliseerd voor Google vindbaar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www\cost-of-retreival-reducer\tmp\presentation\slides\brightlot-dark.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137160" cy="5143500"/>
          </a:xfrm>
          <a:prstGeom prst="rect">
            <a:avLst/>
          </a:prstGeom>
          <a:solidFill>
            <a:srgbClr val="FE3B1F"/>
          </a:solidFill>
          <a:ln/>
        </p:spPr>
      </p:sp>
      <p:sp>
        <p:nvSpPr>
          <p:cNvPr id="4" name="Text 1"/>
          <p:cNvSpPr/>
          <p:nvPr/>
        </p:nvSpPr>
        <p:spPr>
          <a:xfrm>
            <a:off x="457200" y="182880"/>
            <a:ext cx="8229600" cy="365760"/>
          </a:xfrm>
          <a:prstGeom prst="rect">
            <a:avLst/>
          </a:prstGeom>
          <a:noFill/>
          <a:ln/>
        </p:spPr>
        <p:txBody>
          <a:bodyPr wrap="square" rtlCol="0" anchor="ctr"/>
          <a:lstStyle/>
          <a:p>
            <a:pPr algn="ctr" indent="0" marL="0">
              <a:buNone/>
            </a:pPr>
            <a:r>
              <a:rPr lang="en-US" sz="2400" b="1" dirty="0">
                <a:solidFill>
                  <a:srgbClr val="FE3B1F"/>
                </a:solidFill>
                <a:latin typeface="Arial" pitchFamily="34" charset="0"/>
                <a:ea typeface="Arial" pitchFamily="34" charset="-122"/>
                <a:cs typeface="Arial" pitchFamily="34" charset="-120"/>
              </a:rPr>
              <a:t>VAN BRIEFING TOT PUBLICATIE</a:t>
            </a:r>
            <a:endParaRPr lang="en-US" sz="2400" dirty="0"/>
          </a:p>
        </p:txBody>
      </p:sp>
      <p:sp>
        <p:nvSpPr>
          <p:cNvPr id="5" name="Text 2"/>
          <p:cNvSpPr/>
          <p:nvPr/>
        </p:nvSpPr>
        <p:spPr>
          <a:xfrm>
            <a:off x="457200" y="548640"/>
            <a:ext cx="8229600" cy="274320"/>
          </a:xfrm>
          <a:prstGeom prst="rect">
            <a:avLst/>
          </a:prstGeom>
          <a:noFill/>
          <a:ln/>
        </p:spPr>
        <p:txBody>
          <a:bodyPr wrap="square" rtlCol="0" anchor="ctr"/>
          <a:lstStyle/>
          <a:p>
            <a:pPr algn="ctr" indent="0" marL="0">
              <a:buNone/>
            </a:pPr>
            <a:r>
              <a:rPr lang="en-US" sz="1200" dirty="0">
                <a:solidFill>
                  <a:srgbClr val="6B7280"/>
                </a:solidFill>
                <a:latin typeface="Arial" pitchFamily="34" charset="0"/>
                <a:ea typeface="Arial" pitchFamily="34" charset="-122"/>
                <a:cs typeface="Arial" pitchFamily="34" charset="-120"/>
              </a:rPr>
              <a:t>Voorbeeld: Luxe appartementencomplex</a:t>
            </a:r>
            <a:endParaRPr lang="en-US" sz="1200" dirty="0"/>
          </a:p>
        </p:txBody>
      </p:sp>
      <p:sp>
        <p:nvSpPr>
          <p:cNvPr id="6" name="Shape 3"/>
          <p:cNvSpPr/>
          <p:nvPr/>
        </p:nvSpPr>
        <p:spPr>
          <a:xfrm>
            <a:off x="822960" y="960120"/>
            <a:ext cx="548640" cy="548640"/>
          </a:xfrm>
          <a:prstGeom prst="ellipse">
            <a:avLst/>
          </a:prstGeom>
          <a:solidFill>
            <a:srgbClr val="FE3B1F"/>
          </a:solidFill>
          <a:ln/>
        </p:spPr>
      </p:sp>
      <p:sp>
        <p:nvSpPr>
          <p:cNvPr id="7" name="Text 4"/>
          <p:cNvSpPr/>
          <p:nvPr/>
        </p:nvSpPr>
        <p:spPr>
          <a:xfrm>
            <a:off x="822960" y="1024128"/>
            <a:ext cx="54864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8" name="Text 5"/>
          <p:cNvSpPr/>
          <p:nvPr/>
        </p:nvSpPr>
        <p:spPr>
          <a:xfrm>
            <a:off x="1508760" y="1005840"/>
            <a:ext cx="365760" cy="457200"/>
          </a:xfrm>
          <a:prstGeom prst="rect">
            <a:avLst/>
          </a:prstGeom>
          <a:noFill/>
          <a:ln/>
        </p:spPr>
        <p:txBody>
          <a:bodyPr wrap="square" rtlCol="0" anchor="ctr"/>
          <a:lstStyle/>
          <a:p>
            <a:pPr indent="0" marL="0">
              <a:buNone/>
            </a:pPr>
            <a:r>
              <a:rPr lang="en-US" sz="1800" dirty="0">
                <a:solidFill>
                  <a:srgbClr val="6B7280"/>
                </a:solidFill>
                <a:latin typeface="Arial" pitchFamily="34" charset="0"/>
                <a:ea typeface="Arial" pitchFamily="34" charset="-122"/>
                <a:cs typeface="Arial" pitchFamily="34" charset="-120"/>
              </a:rPr>
              <a:t>&gt;</a:t>
            </a:r>
            <a:endParaRPr lang="en-US" sz="1800" dirty="0"/>
          </a:p>
        </p:txBody>
      </p:sp>
      <p:sp>
        <p:nvSpPr>
          <p:cNvPr id="9" name="Shape 6"/>
          <p:cNvSpPr/>
          <p:nvPr/>
        </p:nvSpPr>
        <p:spPr>
          <a:xfrm>
            <a:off x="274320" y="1645920"/>
            <a:ext cx="1691640" cy="1097280"/>
          </a:xfrm>
          <a:prstGeom prst="roundRect">
            <a:avLst>
              <a:gd name="adj" fmla="val 6667"/>
            </a:avLst>
          </a:prstGeom>
          <a:solidFill>
            <a:srgbClr val="243B42"/>
          </a:solidFill>
          <a:ln/>
        </p:spPr>
      </p:sp>
      <p:sp>
        <p:nvSpPr>
          <p:cNvPr id="10" name="Text 7"/>
          <p:cNvSpPr/>
          <p:nvPr/>
        </p:nvSpPr>
        <p:spPr>
          <a:xfrm>
            <a:off x="365760" y="1737360"/>
            <a:ext cx="150876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Input</a:t>
            </a:r>
            <a:endParaRPr lang="en-US" sz="1100" dirty="0"/>
          </a:p>
        </p:txBody>
      </p:sp>
      <p:sp>
        <p:nvSpPr>
          <p:cNvPr id="11" name="Text 8"/>
          <p:cNvSpPr/>
          <p:nvPr/>
        </p:nvSpPr>
        <p:spPr>
          <a:xfrm>
            <a:off x="365760" y="2057400"/>
            <a:ext cx="1508760" cy="594360"/>
          </a:xfrm>
          <a:prstGeom prst="rect">
            <a:avLst/>
          </a:prstGeom>
          <a:noFill/>
          <a:ln/>
        </p:spPr>
        <p:txBody>
          <a:bodyPr wrap="square" rtlCol="0" anchor="ctr"/>
          <a:lstStyle/>
          <a:p>
            <a:pPr algn="ctr" indent="0" marL="0">
              <a:buNone/>
            </a:pPr>
            <a:r>
              <a:rPr lang="en-US" sz="800" dirty="0">
                <a:solidFill>
                  <a:srgbClr val="6B7280"/>
                </a:solidFill>
                <a:latin typeface="Arial" pitchFamily="34" charset="0"/>
                <a:ea typeface="Arial" pitchFamily="34" charset="-122"/>
                <a:cs typeface="Arial" pitchFamily="34" charset="-120"/>
              </a:rPr>
              <a:t>Project info, doelgroep, USPs, buurt</a:t>
            </a:r>
            <a:endParaRPr lang="en-US" sz="800" dirty="0"/>
          </a:p>
        </p:txBody>
      </p:sp>
      <p:sp>
        <p:nvSpPr>
          <p:cNvPr id="12" name="Shape 9"/>
          <p:cNvSpPr/>
          <p:nvPr/>
        </p:nvSpPr>
        <p:spPr>
          <a:xfrm>
            <a:off x="2560320" y="960120"/>
            <a:ext cx="548640" cy="548640"/>
          </a:xfrm>
          <a:prstGeom prst="ellipse">
            <a:avLst/>
          </a:prstGeom>
          <a:solidFill>
            <a:srgbClr val="FE3B1F"/>
          </a:solidFill>
          <a:ln/>
        </p:spPr>
      </p:sp>
      <p:sp>
        <p:nvSpPr>
          <p:cNvPr id="13" name="Text 10"/>
          <p:cNvSpPr/>
          <p:nvPr/>
        </p:nvSpPr>
        <p:spPr>
          <a:xfrm>
            <a:off x="2560320" y="1024128"/>
            <a:ext cx="54864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4" name="Text 11"/>
          <p:cNvSpPr/>
          <p:nvPr/>
        </p:nvSpPr>
        <p:spPr>
          <a:xfrm>
            <a:off x="3246120" y="1005840"/>
            <a:ext cx="365760" cy="457200"/>
          </a:xfrm>
          <a:prstGeom prst="rect">
            <a:avLst/>
          </a:prstGeom>
          <a:noFill/>
          <a:ln/>
        </p:spPr>
        <p:txBody>
          <a:bodyPr wrap="square" rtlCol="0" anchor="ctr"/>
          <a:lstStyle/>
          <a:p>
            <a:pPr indent="0" marL="0">
              <a:buNone/>
            </a:pPr>
            <a:r>
              <a:rPr lang="en-US" sz="1800" dirty="0">
                <a:solidFill>
                  <a:srgbClr val="6B7280"/>
                </a:solidFill>
                <a:latin typeface="Arial" pitchFamily="34" charset="0"/>
                <a:ea typeface="Arial" pitchFamily="34" charset="-122"/>
                <a:cs typeface="Arial" pitchFamily="34" charset="-120"/>
              </a:rPr>
              <a:t>&gt;</a:t>
            </a:r>
            <a:endParaRPr lang="en-US" sz="1800" dirty="0"/>
          </a:p>
        </p:txBody>
      </p:sp>
      <p:sp>
        <p:nvSpPr>
          <p:cNvPr id="15" name="Shape 12"/>
          <p:cNvSpPr/>
          <p:nvPr/>
        </p:nvSpPr>
        <p:spPr>
          <a:xfrm>
            <a:off x="2011680" y="1645920"/>
            <a:ext cx="1691640" cy="1097280"/>
          </a:xfrm>
          <a:prstGeom prst="roundRect">
            <a:avLst>
              <a:gd name="adj" fmla="val 6667"/>
            </a:avLst>
          </a:prstGeom>
          <a:solidFill>
            <a:srgbClr val="243B42"/>
          </a:solidFill>
          <a:ln/>
        </p:spPr>
      </p:sp>
      <p:sp>
        <p:nvSpPr>
          <p:cNvPr id="16" name="Text 13"/>
          <p:cNvSpPr/>
          <p:nvPr/>
        </p:nvSpPr>
        <p:spPr>
          <a:xfrm>
            <a:off x="2103120" y="1737360"/>
            <a:ext cx="150876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Research</a:t>
            </a:r>
            <a:endParaRPr lang="en-US" sz="1100" dirty="0"/>
          </a:p>
        </p:txBody>
      </p:sp>
      <p:sp>
        <p:nvSpPr>
          <p:cNvPr id="17" name="Text 14"/>
          <p:cNvSpPr/>
          <p:nvPr/>
        </p:nvSpPr>
        <p:spPr>
          <a:xfrm>
            <a:off x="2103120" y="2057400"/>
            <a:ext cx="1508760" cy="594360"/>
          </a:xfrm>
          <a:prstGeom prst="rect">
            <a:avLst/>
          </a:prstGeom>
          <a:noFill/>
          <a:ln/>
        </p:spPr>
        <p:txBody>
          <a:bodyPr wrap="square" rtlCol="0" anchor="ctr"/>
          <a:lstStyle/>
          <a:p>
            <a:pPr algn="ctr" indent="0" marL="0">
              <a:buNone/>
            </a:pPr>
            <a:r>
              <a:rPr lang="en-US" sz="800" dirty="0">
                <a:solidFill>
                  <a:srgbClr val="6B7280"/>
                </a:solidFill>
                <a:latin typeface="Arial" pitchFamily="34" charset="0"/>
                <a:ea typeface="Arial" pitchFamily="34" charset="-122"/>
                <a:cs typeface="Arial" pitchFamily="34" charset="-120"/>
              </a:rPr>
              <a:t>Concurrentie, zoekgedrag, vragen kopers</a:t>
            </a:r>
            <a:endParaRPr lang="en-US" sz="800" dirty="0"/>
          </a:p>
        </p:txBody>
      </p:sp>
      <p:sp>
        <p:nvSpPr>
          <p:cNvPr id="18" name="Shape 15"/>
          <p:cNvSpPr/>
          <p:nvPr/>
        </p:nvSpPr>
        <p:spPr>
          <a:xfrm>
            <a:off x="4297680" y="960120"/>
            <a:ext cx="548640" cy="548640"/>
          </a:xfrm>
          <a:prstGeom prst="ellipse">
            <a:avLst/>
          </a:prstGeom>
          <a:solidFill>
            <a:srgbClr val="FE3B1F"/>
          </a:solidFill>
          <a:ln/>
        </p:spPr>
      </p:sp>
      <p:sp>
        <p:nvSpPr>
          <p:cNvPr id="19" name="Text 16"/>
          <p:cNvSpPr/>
          <p:nvPr/>
        </p:nvSpPr>
        <p:spPr>
          <a:xfrm>
            <a:off x="4297680" y="1024128"/>
            <a:ext cx="54864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0" name="Text 17"/>
          <p:cNvSpPr/>
          <p:nvPr/>
        </p:nvSpPr>
        <p:spPr>
          <a:xfrm>
            <a:off x="4983480" y="1005840"/>
            <a:ext cx="365760" cy="457200"/>
          </a:xfrm>
          <a:prstGeom prst="rect">
            <a:avLst/>
          </a:prstGeom>
          <a:noFill/>
          <a:ln/>
        </p:spPr>
        <p:txBody>
          <a:bodyPr wrap="square" rtlCol="0" anchor="ctr"/>
          <a:lstStyle/>
          <a:p>
            <a:pPr indent="0" marL="0">
              <a:buNone/>
            </a:pPr>
            <a:r>
              <a:rPr lang="en-US" sz="1800" dirty="0">
                <a:solidFill>
                  <a:srgbClr val="6B7280"/>
                </a:solidFill>
                <a:latin typeface="Arial" pitchFamily="34" charset="0"/>
                <a:ea typeface="Arial" pitchFamily="34" charset="-122"/>
                <a:cs typeface="Arial" pitchFamily="34" charset="-120"/>
              </a:rPr>
              <a:t>&gt;</a:t>
            </a:r>
            <a:endParaRPr lang="en-US" sz="1800" dirty="0"/>
          </a:p>
        </p:txBody>
      </p:sp>
      <p:sp>
        <p:nvSpPr>
          <p:cNvPr id="21" name="Shape 18"/>
          <p:cNvSpPr/>
          <p:nvPr/>
        </p:nvSpPr>
        <p:spPr>
          <a:xfrm>
            <a:off x="3749040" y="1645920"/>
            <a:ext cx="1691640" cy="1097280"/>
          </a:xfrm>
          <a:prstGeom prst="roundRect">
            <a:avLst>
              <a:gd name="adj" fmla="val 6667"/>
            </a:avLst>
          </a:prstGeom>
          <a:solidFill>
            <a:srgbClr val="243B42"/>
          </a:solidFill>
          <a:ln/>
        </p:spPr>
      </p:sp>
      <p:sp>
        <p:nvSpPr>
          <p:cNvPr id="22" name="Text 19"/>
          <p:cNvSpPr/>
          <p:nvPr/>
        </p:nvSpPr>
        <p:spPr>
          <a:xfrm>
            <a:off x="3840480" y="1737360"/>
            <a:ext cx="150876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Brief</a:t>
            </a:r>
            <a:endParaRPr lang="en-US" sz="1100" dirty="0"/>
          </a:p>
        </p:txBody>
      </p:sp>
      <p:sp>
        <p:nvSpPr>
          <p:cNvPr id="23" name="Text 20"/>
          <p:cNvSpPr/>
          <p:nvPr/>
        </p:nvSpPr>
        <p:spPr>
          <a:xfrm>
            <a:off x="3840480" y="2057400"/>
            <a:ext cx="1508760" cy="594360"/>
          </a:xfrm>
          <a:prstGeom prst="rect">
            <a:avLst/>
          </a:prstGeom>
          <a:noFill/>
          <a:ln/>
        </p:spPr>
        <p:txBody>
          <a:bodyPr wrap="square" rtlCol="0" anchor="ctr"/>
          <a:lstStyle/>
          <a:p>
            <a:pPr algn="ctr" indent="0" marL="0">
              <a:buNone/>
            </a:pPr>
            <a:r>
              <a:rPr lang="en-US" sz="800" dirty="0">
                <a:solidFill>
                  <a:srgbClr val="6B7280"/>
                </a:solidFill>
                <a:latin typeface="Arial" pitchFamily="34" charset="0"/>
                <a:ea typeface="Arial" pitchFamily="34" charset="-122"/>
                <a:cs typeface="Arial" pitchFamily="34" charset="-120"/>
              </a:rPr>
              <a:t>SEO strategie, structuur, call-to-actions</a:t>
            </a:r>
            <a:endParaRPr lang="en-US" sz="800" dirty="0"/>
          </a:p>
        </p:txBody>
      </p:sp>
      <p:sp>
        <p:nvSpPr>
          <p:cNvPr id="24" name="Shape 21"/>
          <p:cNvSpPr/>
          <p:nvPr/>
        </p:nvSpPr>
        <p:spPr>
          <a:xfrm>
            <a:off x="6035040" y="960120"/>
            <a:ext cx="548640" cy="548640"/>
          </a:xfrm>
          <a:prstGeom prst="ellipse">
            <a:avLst/>
          </a:prstGeom>
          <a:solidFill>
            <a:srgbClr val="FE3B1F"/>
          </a:solidFill>
          <a:ln/>
        </p:spPr>
      </p:sp>
      <p:sp>
        <p:nvSpPr>
          <p:cNvPr id="25" name="Text 22"/>
          <p:cNvSpPr/>
          <p:nvPr/>
        </p:nvSpPr>
        <p:spPr>
          <a:xfrm>
            <a:off x="6035040" y="1024128"/>
            <a:ext cx="54864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6" name="Text 23"/>
          <p:cNvSpPr/>
          <p:nvPr/>
        </p:nvSpPr>
        <p:spPr>
          <a:xfrm>
            <a:off x="6720840" y="1005840"/>
            <a:ext cx="365760" cy="457200"/>
          </a:xfrm>
          <a:prstGeom prst="rect">
            <a:avLst/>
          </a:prstGeom>
          <a:noFill/>
          <a:ln/>
        </p:spPr>
        <p:txBody>
          <a:bodyPr wrap="square" rtlCol="0" anchor="ctr"/>
          <a:lstStyle/>
          <a:p>
            <a:pPr indent="0" marL="0">
              <a:buNone/>
            </a:pPr>
            <a:r>
              <a:rPr lang="en-US" sz="1800" dirty="0">
                <a:solidFill>
                  <a:srgbClr val="6B7280"/>
                </a:solidFill>
                <a:latin typeface="Arial" pitchFamily="34" charset="0"/>
                <a:ea typeface="Arial" pitchFamily="34" charset="-122"/>
                <a:cs typeface="Arial" pitchFamily="34" charset="-120"/>
              </a:rPr>
              <a:t>&gt;</a:t>
            </a:r>
            <a:endParaRPr lang="en-US" sz="1800" dirty="0"/>
          </a:p>
        </p:txBody>
      </p:sp>
      <p:sp>
        <p:nvSpPr>
          <p:cNvPr id="27" name="Shape 24"/>
          <p:cNvSpPr/>
          <p:nvPr/>
        </p:nvSpPr>
        <p:spPr>
          <a:xfrm>
            <a:off x="5486400" y="1645920"/>
            <a:ext cx="1691640" cy="1097280"/>
          </a:xfrm>
          <a:prstGeom prst="roundRect">
            <a:avLst>
              <a:gd name="adj" fmla="val 6667"/>
            </a:avLst>
          </a:prstGeom>
          <a:solidFill>
            <a:srgbClr val="243B42"/>
          </a:solidFill>
          <a:ln/>
        </p:spPr>
      </p:sp>
      <p:sp>
        <p:nvSpPr>
          <p:cNvPr id="28" name="Text 25"/>
          <p:cNvSpPr/>
          <p:nvPr/>
        </p:nvSpPr>
        <p:spPr>
          <a:xfrm>
            <a:off x="5577840" y="1737360"/>
            <a:ext cx="150876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Content</a:t>
            </a:r>
            <a:endParaRPr lang="en-US" sz="1100" dirty="0"/>
          </a:p>
        </p:txBody>
      </p:sp>
      <p:sp>
        <p:nvSpPr>
          <p:cNvPr id="29" name="Text 26"/>
          <p:cNvSpPr/>
          <p:nvPr/>
        </p:nvSpPr>
        <p:spPr>
          <a:xfrm>
            <a:off x="5577840" y="2057400"/>
            <a:ext cx="1508760" cy="594360"/>
          </a:xfrm>
          <a:prstGeom prst="rect">
            <a:avLst/>
          </a:prstGeom>
          <a:noFill/>
          <a:ln/>
        </p:spPr>
        <p:txBody>
          <a:bodyPr wrap="square" rtlCol="0" anchor="ctr"/>
          <a:lstStyle/>
          <a:p>
            <a:pPr algn="ctr" indent="0" marL="0">
              <a:buNone/>
            </a:pPr>
            <a:r>
              <a:rPr lang="en-US" sz="800" dirty="0">
                <a:solidFill>
                  <a:srgbClr val="6B7280"/>
                </a:solidFill>
                <a:latin typeface="Arial" pitchFamily="34" charset="0"/>
                <a:ea typeface="Arial" pitchFamily="34" charset="-122"/>
                <a:cs typeface="Arial" pitchFamily="34" charset="-120"/>
              </a:rPr>
              <a:t>9-pass AI generatie met kwaliteitscheck</a:t>
            </a:r>
            <a:endParaRPr lang="en-US" sz="800" dirty="0"/>
          </a:p>
        </p:txBody>
      </p:sp>
      <p:sp>
        <p:nvSpPr>
          <p:cNvPr id="30" name="Shape 27"/>
          <p:cNvSpPr/>
          <p:nvPr/>
        </p:nvSpPr>
        <p:spPr>
          <a:xfrm>
            <a:off x="7772400" y="960120"/>
            <a:ext cx="548640" cy="548640"/>
          </a:xfrm>
          <a:prstGeom prst="ellipse">
            <a:avLst/>
          </a:prstGeom>
          <a:solidFill>
            <a:srgbClr val="FE3B1F"/>
          </a:solidFill>
          <a:ln/>
        </p:spPr>
      </p:sp>
      <p:sp>
        <p:nvSpPr>
          <p:cNvPr id="31" name="Text 28"/>
          <p:cNvSpPr/>
          <p:nvPr/>
        </p:nvSpPr>
        <p:spPr>
          <a:xfrm>
            <a:off x="7772400" y="1024128"/>
            <a:ext cx="54864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32" name="Shape 29"/>
          <p:cNvSpPr/>
          <p:nvPr/>
        </p:nvSpPr>
        <p:spPr>
          <a:xfrm>
            <a:off x="7223760" y="1645920"/>
            <a:ext cx="1691640" cy="1097280"/>
          </a:xfrm>
          <a:prstGeom prst="roundRect">
            <a:avLst>
              <a:gd name="adj" fmla="val 6667"/>
            </a:avLst>
          </a:prstGeom>
          <a:solidFill>
            <a:srgbClr val="243B42"/>
          </a:solidFill>
          <a:ln/>
        </p:spPr>
      </p:sp>
      <p:sp>
        <p:nvSpPr>
          <p:cNvPr id="33" name="Text 30"/>
          <p:cNvSpPr/>
          <p:nvPr/>
        </p:nvSpPr>
        <p:spPr>
          <a:xfrm>
            <a:off x="7315200" y="1737360"/>
            <a:ext cx="150876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Publicatie</a:t>
            </a:r>
            <a:endParaRPr lang="en-US" sz="1100" dirty="0"/>
          </a:p>
        </p:txBody>
      </p:sp>
      <p:sp>
        <p:nvSpPr>
          <p:cNvPr id="34" name="Text 31"/>
          <p:cNvSpPr/>
          <p:nvPr/>
        </p:nvSpPr>
        <p:spPr>
          <a:xfrm>
            <a:off x="7315200" y="2057400"/>
            <a:ext cx="1508760" cy="594360"/>
          </a:xfrm>
          <a:prstGeom prst="rect">
            <a:avLst/>
          </a:prstGeom>
          <a:noFill/>
          <a:ln/>
        </p:spPr>
        <p:txBody>
          <a:bodyPr wrap="square" rtlCol="0" anchor="ctr"/>
          <a:lstStyle/>
          <a:p>
            <a:pPr algn="ctr" indent="0" marL="0">
              <a:buNone/>
            </a:pPr>
            <a:r>
              <a:rPr lang="en-US" sz="800" dirty="0">
                <a:solidFill>
                  <a:srgbClr val="6B7280"/>
                </a:solidFill>
                <a:latin typeface="Arial" pitchFamily="34" charset="0"/>
                <a:ea typeface="Arial" pitchFamily="34" charset="-122"/>
                <a:cs typeface="Arial" pitchFamily="34" charset="-120"/>
              </a:rPr>
              <a:t>WordPress-ready, SEO meta, schema</a:t>
            </a:r>
            <a:endParaRPr lang="en-US" sz="800" dirty="0"/>
          </a:p>
        </p:txBody>
      </p:sp>
      <p:sp>
        <p:nvSpPr>
          <p:cNvPr id="35" name="Shape 32"/>
          <p:cNvSpPr/>
          <p:nvPr/>
        </p:nvSpPr>
        <p:spPr>
          <a:xfrm>
            <a:off x="365760" y="2926080"/>
            <a:ext cx="8412480" cy="1920240"/>
          </a:xfrm>
          <a:prstGeom prst="roundRect">
            <a:avLst>
              <a:gd name="adj" fmla="val 3810"/>
            </a:avLst>
          </a:prstGeom>
          <a:solidFill>
            <a:srgbClr val="243B42"/>
          </a:solidFill>
          <a:ln w="12700">
            <a:solidFill>
              <a:srgbClr val="FE3B1F"/>
            </a:solidFill>
            <a:prstDash val="solid"/>
          </a:ln>
        </p:spPr>
      </p:sp>
      <p:sp>
        <p:nvSpPr>
          <p:cNvPr id="36" name="Text 33"/>
          <p:cNvSpPr/>
          <p:nvPr/>
        </p:nvSpPr>
        <p:spPr>
          <a:xfrm>
            <a:off x="548640" y="3063240"/>
            <a:ext cx="8046720" cy="274320"/>
          </a:xfrm>
          <a:prstGeom prst="rect">
            <a:avLst/>
          </a:prstGeom>
          <a:noFill/>
          <a:ln/>
        </p:spPr>
        <p:txBody>
          <a:bodyPr wrap="square" rtlCol="0" anchor="ctr"/>
          <a:lstStyle/>
          <a:p>
            <a:pPr indent="0" marL="0">
              <a:buNone/>
            </a:pPr>
            <a:r>
              <a:rPr lang="en-US" sz="1000" b="1" dirty="0">
                <a:solidFill>
                  <a:srgbClr val="FE3B1F"/>
                </a:solidFill>
                <a:latin typeface="Arial" pitchFamily="34" charset="0"/>
                <a:ea typeface="Arial" pitchFamily="34" charset="-122"/>
                <a:cs typeface="Arial" pitchFamily="34" charset="-120"/>
              </a:rPr>
              <a:t>VOORBEELD OUTPUT:</a:t>
            </a:r>
            <a:endParaRPr lang="en-US" sz="1000" dirty="0"/>
          </a:p>
        </p:txBody>
      </p:sp>
      <p:sp>
        <p:nvSpPr>
          <p:cNvPr id="37" name="Text 34"/>
          <p:cNvSpPr/>
          <p:nvPr/>
        </p:nvSpPr>
        <p:spPr>
          <a:xfrm>
            <a:off x="548640" y="3383280"/>
            <a:ext cx="8046720" cy="1280160"/>
          </a:xfrm>
          <a:prstGeom prst="rect">
            <a:avLst/>
          </a:prstGeom>
          <a:noFill/>
          <a:ln/>
        </p:spPr>
        <p:txBody>
          <a:bodyPr wrap="square" rtlCol="0" anchor="ctr"/>
          <a:lstStyle/>
          <a:p>
            <a:pPr indent="0" marL="0">
              <a:buNone/>
            </a:pPr>
            <a:r>
              <a:rPr lang="en-US" sz="1000" i="1" dirty="0">
                <a:solidFill>
                  <a:srgbClr val="FFFFFF"/>
                </a:solidFill>
                <a:latin typeface="Arial" pitchFamily="34" charset="0"/>
                <a:ea typeface="Arial" pitchFamily="34" charset="-122"/>
                <a:cs typeface="Arial" pitchFamily="34" charset="-120"/>
              </a:rPr>
              <a:t>"Appartement kopen in Amsterdam Zuidas | The Pulse Residences"</a:t>
            </a:r>
            <a:endParaRPr lang="en-US" sz="1000" dirty="0"/>
          </a:p>
          <a:p>
            <a:pPr indent="0" marL="0">
              <a:buNone/>
            </a:pPr>
            <a:endParaRPr lang="en-US" sz="1000" dirty="0"/>
          </a:p>
          <a:p>
            <a:pPr indent="0" marL="0">
              <a:buNone/>
            </a:pPr>
            <a:r>
              <a:rPr lang="en-US" sz="1000" i="1" dirty="0">
                <a:solidFill>
                  <a:srgbClr val="FFFFFF"/>
                </a:solidFill>
                <a:latin typeface="Arial" pitchFamily="34" charset="0"/>
                <a:ea typeface="Arial" pitchFamily="34" charset="-122"/>
                <a:cs typeface="Arial" pitchFamily="34" charset="-120"/>
              </a:rPr>
              <a:t>Droom je van wonen op een van de meest prestigieuze locaties van Nederland? The Pulse biedt moderne appartementen met panoramisch uitzicht over de Amsterdamse skyline. Ontdek duurzaam wonen gecombineerd met grootstedelijk comfort...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www\cost-of-retreival-reducer\tmp\presentation\slides\brightlot-dark.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137160" cy="5143500"/>
          </a:xfrm>
          <a:prstGeom prst="rect">
            <a:avLst/>
          </a:prstGeom>
          <a:solidFill>
            <a:srgbClr val="FE3B1F"/>
          </a:solidFill>
          <a:ln/>
        </p:spPr>
      </p:sp>
      <p:sp>
        <p:nvSpPr>
          <p:cNvPr id="4" name="Text 1"/>
          <p:cNvSpPr/>
          <p:nvPr/>
        </p:nvSpPr>
        <p:spPr>
          <a:xfrm>
            <a:off x="457200" y="182880"/>
            <a:ext cx="8229600" cy="365760"/>
          </a:xfrm>
          <a:prstGeom prst="rect">
            <a:avLst/>
          </a:prstGeom>
          <a:noFill/>
          <a:ln/>
        </p:spPr>
        <p:txBody>
          <a:bodyPr wrap="square" rtlCol="0" anchor="ctr"/>
          <a:lstStyle/>
          <a:p>
            <a:pPr algn="ctr" indent="0" marL="0">
              <a:buNone/>
            </a:pPr>
            <a:r>
              <a:rPr lang="en-US" sz="2400" b="1" dirty="0">
                <a:solidFill>
                  <a:srgbClr val="FE3B1F"/>
                </a:solidFill>
                <a:latin typeface="Arial" pitchFamily="34" charset="0"/>
                <a:ea typeface="Arial" pitchFamily="34" charset="-122"/>
                <a:cs typeface="Arial" pitchFamily="34" charset="-120"/>
              </a:rPr>
              <a:t>WEBSITE AUDIT &amp; OPTIMALISATIE</a:t>
            </a:r>
            <a:endParaRPr lang="en-US" sz="2400" dirty="0"/>
          </a:p>
        </p:txBody>
      </p:sp>
      <p:sp>
        <p:nvSpPr>
          <p:cNvPr id="5" name="Text 2"/>
          <p:cNvSpPr/>
          <p:nvPr/>
        </p:nvSpPr>
        <p:spPr>
          <a:xfrm>
            <a:off x="457200" y="502920"/>
            <a:ext cx="8229600" cy="274320"/>
          </a:xfrm>
          <a:prstGeom prst="rect">
            <a:avLst/>
          </a:prstGeom>
          <a:noFill/>
          <a:ln/>
        </p:spPr>
        <p:txBody>
          <a:bodyPr wrap="square" rtlCol="0" anchor="ctr"/>
          <a:lstStyle/>
          <a:p>
            <a:pPr algn="ctr" indent="0" marL="0">
              <a:buNone/>
            </a:pPr>
            <a:r>
              <a:rPr lang="en-US" sz="1200" dirty="0">
                <a:solidFill>
                  <a:srgbClr val="6B7280"/>
                </a:solidFill>
                <a:latin typeface="Arial" pitchFamily="34" charset="0"/>
                <a:ea typeface="Arial" pitchFamily="34" charset="-122"/>
                <a:cs typeface="Arial" pitchFamily="34" charset="-120"/>
              </a:rPr>
              <a:t>Inzicht in wat werkt en wat verbeterd kan worden</a:t>
            </a:r>
            <a:endParaRPr lang="en-US" sz="1200" dirty="0"/>
          </a:p>
        </p:txBody>
      </p:sp>
      <p:sp>
        <p:nvSpPr>
          <p:cNvPr id="6" name="Shape 3"/>
          <p:cNvSpPr/>
          <p:nvPr/>
        </p:nvSpPr>
        <p:spPr>
          <a:xfrm>
            <a:off x="457200" y="914400"/>
            <a:ext cx="4023360" cy="1737360"/>
          </a:xfrm>
          <a:prstGeom prst="roundRect">
            <a:avLst>
              <a:gd name="adj" fmla="val 4211"/>
            </a:avLst>
          </a:prstGeom>
          <a:solidFill>
            <a:srgbClr val="243B42"/>
          </a:solidFill>
          <a:ln w="12700">
            <a:solidFill>
              <a:srgbClr val="FE3B1F"/>
            </a:solidFill>
            <a:prstDash val="solid"/>
          </a:ln>
        </p:spPr>
      </p:sp>
      <p:sp>
        <p:nvSpPr>
          <p:cNvPr id="7" name="Text 4"/>
          <p:cNvSpPr/>
          <p:nvPr/>
        </p:nvSpPr>
        <p:spPr>
          <a:xfrm>
            <a:off x="594360" y="1051560"/>
            <a:ext cx="3749040" cy="320040"/>
          </a:xfrm>
          <a:prstGeom prst="rect">
            <a:avLst/>
          </a:prstGeom>
          <a:noFill/>
          <a:ln/>
        </p:spPr>
        <p:txBody>
          <a:bodyPr wrap="square" rtlCol="0" anchor="ctr"/>
          <a:lstStyle/>
          <a:p>
            <a:pPr indent="0" marL="0">
              <a:buNone/>
            </a:pPr>
            <a:r>
              <a:rPr lang="en-US" sz="1200" b="1" dirty="0">
                <a:solidFill>
                  <a:srgbClr val="FE3B1F"/>
                </a:solidFill>
                <a:latin typeface="Arial" pitchFamily="34" charset="0"/>
                <a:ea typeface="Arial" pitchFamily="34" charset="-122"/>
                <a:cs typeface="Arial" pitchFamily="34" charset="-120"/>
              </a:rPr>
              <a:t>Content Kwaliteit</a:t>
            </a:r>
            <a:endParaRPr lang="en-US" sz="1200" dirty="0"/>
          </a:p>
        </p:txBody>
      </p:sp>
      <p:sp>
        <p:nvSpPr>
          <p:cNvPr id="8" name="Text 5"/>
          <p:cNvSpPr/>
          <p:nvPr/>
        </p:nvSpPr>
        <p:spPr>
          <a:xfrm>
            <a:off x="640080" y="1417320"/>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Leesbaarheid</a:t>
            </a:r>
            <a:endParaRPr lang="en-US" sz="1000" dirty="0"/>
          </a:p>
        </p:txBody>
      </p:sp>
      <p:sp>
        <p:nvSpPr>
          <p:cNvPr id="9" name="Text 6"/>
          <p:cNvSpPr/>
          <p:nvPr/>
        </p:nvSpPr>
        <p:spPr>
          <a:xfrm>
            <a:off x="640080" y="1709928"/>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Relevantie</a:t>
            </a:r>
            <a:endParaRPr lang="en-US" sz="1000" dirty="0"/>
          </a:p>
        </p:txBody>
      </p:sp>
      <p:sp>
        <p:nvSpPr>
          <p:cNvPr id="10" name="Text 7"/>
          <p:cNvSpPr/>
          <p:nvPr/>
        </p:nvSpPr>
        <p:spPr>
          <a:xfrm>
            <a:off x="640080" y="2002536"/>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Conversie-elementen</a:t>
            </a:r>
            <a:endParaRPr lang="en-US" sz="1000" dirty="0"/>
          </a:p>
        </p:txBody>
      </p:sp>
      <p:sp>
        <p:nvSpPr>
          <p:cNvPr id="11" name="Text 8"/>
          <p:cNvSpPr/>
          <p:nvPr/>
        </p:nvSpPr>
        <p:spPr>
          <a:xfrm>
            <a:off x="640080" y="2295144"/>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Call-to-actions</a:t>
            </a:r>
            <a:endParaRPr lang="en-US" sz="1000" dirty="0"/>
          </a:p>
        </p:txBody>
      </p:sp>
      <p:sp>
        <p:nvSpPr>
          <p:cNvPr id="12" name="Shape 9"/>
          <p:cNvSpPr/>
          <p:nvPr/>
        </p:nvSpPr>
        <p:spPr>
          <a:xfrm>
            <a:off x="4754880" y="914400"/>
            <a:ext cx="4023360" cy="1737360"/>
          </a:xfrm>
          <a:prstGeom prst="roundRect">
            <a:avLst>
              <a:gd name="adj" fmla="val 4211"/>
            </a:avLst>
          </a:prstGeom>
          <a:solidFill>
            <a:srgbClr val="243B42"/>
          </a:solidFill>
          <a:ln w="12700">
            <a:solidFill>
              <a:srgbClr val="FE3B1F"/>
            </a:solidFill>
            <a:prstDash val="solid"/>
          </a:ln>
        </p:spPr>
      </p:sp>
      <p:sp>
        <p:nvSpPr>
          <p:cNvPr id="13" name="Text 10"/>
          <p:cNvSpPr/>
          <p:nvPr/>
        </p:nvSpPr>
        <p:spPr>
          <a:xfrm>
            <a:off x="4892040" y="1051560"/>
            <a:ext cx="3749040" cy="320040"/>
          </a:xfrm>
          <a:prstGeom prst="rect">
            <a:avLst/>
          </a:prstGeom>
          <a:noFill/>
          <a:ln/>
        </p:spPr>
        <p:txBody>
          <a:bodyPr wrap="square" rtlCol="0" anchor="ctr"/>
          <a:lstStyle/>
          <a:p>
            <a:pPr indent="0" marL="0">
              <a:buNone/>
            </a:pPr>
            <a:r>
              <a:rPr lang="en-US" sz="1200" b="1" dirty="0">
                <a:solidFill>
                  <a:srgbClr val="FE3B1F"/>
                </a:solidFill>
                <a:latin typeface="Arial" pitchFamily="34" charset="0"/>
                <a:ea typeface="Arial" pitchFamily="34" charset="-122"/>
                <a:cs typeface="Arial" pitchFamily="34" charset="-120"/>
              </a:rPr>
              <a:t>SEO Technisch</a:t>
            </a:r>
            <a:endParaRPr lang="en-US" sz="1200" dirty="0"/>
          </a:p>
        </p:txBody>
      </p:sp>
      <p:sp>
        <p:nvSpPr>
          <p:cNvPr id="14" name="Text 11"/>
          <p:cNvSpPr/>
          <p:nvPr/>
        </p:nvSpPr>
        <p:spPr>
          <a:xfrm>
            <a:off x="4937760" y="1417320"/>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Meta titels</a:t>
            </a:r>
            <a:endParaRPr lang="en-US" sz="1000" dirty="0"/>
          </a:p>
        </p:txBody>
      </p:sp>
      <p:sp>
        <p:nvSpPr>
          <p:cNvPr id="15" name="Text 12"/>
          <p:cNvSpPr/>
          <p:nvPr/>
        </p:nvSpPr>
        <p:spPr>
          <a:xfrm>
            <a:off x="4937760" y="1709928"/>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Heading structuur</a:t>
            </a:r>
            <a:endParaRPr lang="en-US" sz="1000" dirty="0"/>
          </a:p>
        </p:txBody>
      </p:sp>
      <p:sp>
        <p:nvSpPr>
          <p:cNvPr id="16" name="Text 13"/>
          <p:cNvSpPr/>
          <p:nvPr/>
        </p:nvSpPr>
        <p:spPr>
          <a:xfrm>
            <a:off x="4937760" y="2002536"/>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Schema markup</a:t>
            </a:r>
            <a:endParaRPr lang="en-US" sz="1000" dirty="0"/>
          </a:p>
        </p:txBody>
      </p:sp>
      <p:sp>
        <p:nvSpPr>
          <p:cNvPr id="17" name="Text 14"/>
          <p:cNvSpPr/>
          <p:nvPr/>
        </p:nvSpPr>
        <p:spPr>
          <a:xfrm>
            <a:off x="4937760" y="2295144"/>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Interne links</a:t>
            </a:r>
            <a:endParaRPr lang="en-US" sz="1000" dirty="0"/>
          </a:p>
        </p:txBody>
      </p:sp>
      <p:sp>
        <p:nvSpPr>
          <p:cNvPr id="18" name="Shape 15"/>
          <p:cNvSpPr/>
          <p:nvPr/>
        </p:nvSpPr>
        <p:spPr>
          <a:xfrm>
            <a:off x="457200" y="2834640"/>
            <a:ext cx="4023360" cy="1737360"/>
          </a:xfrm>
          <a:prstGeom prst="roundRect">
            <a:avLst>
              <a:gd name="adj" fmla="val 4211"/>
            </a:avLst>
          </a:prstGeom>
          <a:solidFill>
            <a:srgbClr val="243B42"/>
          </a:solidFill>
          <a:ln w="12700">
            <a:solidFill>
              <a:srgbClr val="FE3B1F"/>
            </a:solidFill>
            <a:prstDash val="solid"/>
          </a:ln>
        </p:spPr>
      </p:sp>
      <p:sp>
        <p:nvSpPr>
          <p:cNvPr id="19" name="Text 16"/>
          <p:cNvSpPr/>
          <p:nvPr/>
        </p:nvSpPr>
        <p:spPr>
          <a:xfrm>
            <a:off x="594360" y="2971800"/>
            <a:ext cx="3749040" cy="320040"/>
          </a:xfrm>
          <a:prstGeom prst="rect">
            <a:avLst/>
          </a:prstGeom>
          <a:noFill/>
          <a:ln/>
        </p:spPr>
        <p:txBody>
          <a:bodyPr wrap="square" rtlCol="0" anchor="ctr"/>
          <a:lstStyle/>
          <a:p>
            <a:pPr indent="0" marL="0">
              <a:buNone/>
            </a:pPr>
            <a:r>
              <a:rPr lang="en-US" sz="1200" b="1" dirty="0">
                <a:solidFill>
                  <a:srgbClr val="FE3B1F"/>
                </a:solidFill>
                <a:latin typeface="Arial" pitchFamily="34" charset="0"/>
                <a:ea typeface="Arial" pitchFamily="34" charset="-122"/>
                <a:cs typeface="Arial" pitchFamily="34" charset="-120"/>
              </a:rPr>
              <a:t>Conversie</a:t>
            </a:r>
            <a:endParaRPr lang="en-US" sz="1200" dirty="0"/>
          </a:p>
        </p:txBody>
      </p:sp>
      <p:sp>
        <p:nvSpPr>
          <p:cNvPr id="20" name="Text 17"/>
          <p:cNvSpPr/>
          <p:nvPr/>
        </p:nvSpPr>
        <p:spPr>
          <a:xfrm>
            <a:off x="640080" y="3337560"/>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Lead formulieren</a:t>
            </a:r>
            <a:endParaRPr lang="en-US" sz="1000" dirty="0"/>
          </a:p>
        </p:txBody>
      </p:sp>
      <p:sp>
        <p:nvSpPr>
          <p:cNvPr id="21" name="Text 18"/>
          <p:cNvSpPr/>
          <p:nvPr/>
        </p:nvSpPr>
        <p:spPr>
          <a:xfrm>
            <a:off x="640080" y="3630168"/>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Contact opties</a:t>
            </a:r>
            <a:endParaRPr lang="en-US" sz="1000" dirty="0"/>
          </a:p>
        </p:txBody>
      </p:sp>
      <p:sp>
        <p:nvSpPr>
          <p:cNvPr id="22" name="Text 19"/>
          <p:cNvSpPr/>
          <p:nvPr/>
        </p:nvSpPr>
        <p:spPr>
          <a:xfrm>
            <a:off x="640080" y="3922776"/>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Urgentie triggers</a:t>
            </a:r>
            <a:endParaRPr lang="en-US" sz="1000" dirty="0"/>
          </a:p>
        </p:txBody>
      </p:sp>
      <p:sp>
        <p:nvSpPr>
          <p:cNvPr id="23" name="Text 20"/>
          <p:cNvSpPr/>
          <p:nvPr/>
        </p:nvSpPr>
        <p:spPr>
          <a:xfrm>
            <a:off x="640080" y="4215384"/>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Social proof</a:t>
            </a:r>
            <a:endParaRPr lang="en-US" sz="1000" dirty="0"/>
          </a:p>
        </p:txBody>
      </p:sp>
      <p:sp>
        <p:nvSpPr>
          <p:cNvPr id="24" name="Shape 21"/>
          <p:cNvSpPr/>
          <p:nvPr/>
        </p:nvSpPr>
        <p:spPr>
          <a:xfrm>
            <a:off x="4754880" y="2834640"/>
            <a:ext cx="4023360" cy="1737360"/>
          </a:xfrm>
          <a:prstGeom prst="roundRect">
            <a:avLst>
              <a:gd name="adj" fmla="val 4211"/>
            </a:avLst>
          </a:prstGeom>
          <a:solidFill>
            <a:srgbClr val="243B42"/>
          </a:solidFill>
          <a:ln w="12700">
            <a:solidFill>
              <a:srgbClr val="FE3B1F"/>
            </a:solidFill>
            <a:prstDash val="solid"/>
          </a:ln>
        </p:spPr>
      </p:sp>
      <p:sp>
        <p:nvSpPr>
          <p:cNvPr id="25" name="Text 22"/>
          <p:cNvSpPr/>
          <p:nvPr/>
        </p:nvSpPr>
        <p:spPr>
          <a:xfrm>
            <a:off x="4892040" y="2971800"/>
            <a:ext cx="3749040" cy="320040"/>
          </a:xfrm>
          <a:prstGeom prst="rect">
            <a:avLst/>
          </a:prstGeom>
          <a:noFill/>
          <a:ln/>
        </p:spPr>
        <p:txBody>
          <a:bodyPr wrap="square" rtlCol="0" anchor="ctr"/>
          <a:lstStyle/>
          <a:p>
            <a:pPr indent="0" marL="0">
              <a:buNone/>
            </a:pPr>
            <a:r>
              <a:rPr lang="en-US" sz="1200" b="1" dirty="0">
                <a:solidFill>
                  <a:srgbClr val="FE3B1F"/>
                </a:solidFill>
                <a:latin typeface="Arial" pitchFamily="34" charset="0"/>
                <a:ea typeface="Arial" pitchFamily="34" charset="-122"/>
                <a:cs typeface="Arial" pitchFamily="34" charset="-120"/>
              </a:rPr>
              <a:t>Concurrentie</a:t>
            </a:r>
            <a:endParaRPr lang="en-US" sz="1200" dirty="0"/>
          </a:p>
        </p:txBody>
      </p:sp>
      <p:sp>
        <p:nvSpPr>
          <p:cNvPr id="26" name="Text 23"/>
          <p:cNvSpPr/>
          <p:nvPr/>
        </p:nvSpPr>
        <p:spPr>
          <a:xfrm>
            <a:off x="4937760" y="3337560"/>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Ranking analyse</a:t>
            </a:r>
            <a:endParaRPr lang="en-US" sz="1000" dirty="0"/>
          </a:p>
        </p:txBody>
      </p:sp>
      <p:sp>
        <p:nvSpPr>
          <p:cNvPr id="27" name="Text 24"/>
          <p:cNvSpPr/>
          <p:nvPr/>
        </p:nvSpPr>
        <p:spPr>
          <a:xfrm>
            <a:off x="4937760" y="3630168"/>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Content gaps</a:t>
            </a:r>
            <a:endParaRPr lang="en-US" sz="1000" dirty="0"/>
          </a:p>
        </p:txBody>
      </p:sp>
      <p:sp>
        <p:nvSpPr>
          <p:cNvPr id="28" name="Text 25"/>
          <p:cNvSpPr/>
          <p:nvPr/>
        </p:nvSpPr>
        <p:spPr>
          <a:xfrm>
            <a:off x="4937760" y="3922776"/>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Zoekwoord kansen</a:t>
            </a:r>
            <a:endParaRPr lang="en-US" sz="1000" dirty="0"/>
          </a:p>
        </p:txBody>
      </p:sp>
      <p:sp>
        <p:nvSpPr>
          <p:cNvPr id="29" name="Text 26"/>
          <p:cNvSpPr/>
          <p:nvPr/>
        </p:nvSpPr>
        <p:spPr>
          <a:xfrm>
            <a:off x="4937760" y="4215384"/>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SERP features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www\cost-of-retreival-reducer\tmp\presentation\slides\brightlot-dark.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137160" cy="5143500"/>
          </a:xfrm>
          <a:prstGeom prst="rect">
            <a:avLst/>
          </a:prstGeom>
          <a:solidFill>
            <a:srgbClr val="FE3B1F"/>
          </a:solidFill>
          <a:ln/>
        </p:spPr>
      </p:sp>
      <p:sp>
        <p:nvSpPr>
          <p:cNvPr id="4" name="Text 1"/>
          <p:cNvSpPr/>
          <p:nvPr/>
        </p:nvSpPr>
        <p:spPr>
          <a:xfrm>
            <a:off x="457200" y="182880"/>
            <a:ext cx="8229600" cy="365760"/>
          </a:xfrm>
          <a:prstGeom prst="rect">
            <a:avLst/>
          </a:prstGeom>
          <a:noFill/>
          <a:ln/>
        </p:spPr>
        <p:txBody>
          <a:bodyPr wrap="square" rtlCol="0" anchor="ctr"/>
          <a:lstStyle/>
          <a:p>
            <a:pPr algn="ctr" indent="0" marL="0">
              <a:buNone/>
            </a:pPr>
            <a:r>
              <a:rPr lang="en-US" sz="2400" b="1" dirty="0">
                <a:solidFill>
                  <a:srgbClr val="FE3B1F"/>
                </a:solidFill>
                <a:latin typeface="Arial" pitchFamily="34" charset="0"/>
                <a:ea typeface="Arial" pitchFamily="34" charset="-122"/>
                <a:cs typeface="Arial" pitchFamily="34" charset="-120"/>
              </a:rPr>
              <a:t>SOCIAL &amp; CONVERSIE OPTIMALISATIE</a:t>
            </a:r>
            <a:endParaRPr lang="en-US" sz="2400" dirty="0"/>
          </a:p>
        </p:txBody>
      </p:sp>
      <p:sp>
        <p:nvSpPr>
          <p:cNvPr id="5" name="Shape 2"/>
          <p:cNvSpPr/>
          <p:nvPr/>
        </p:nvSpPr>
        <p:spPr>
          <a:xfrm>
            <a:off x="365760" y="731520"/>
            <a:ext cx="4114800" cy="2194560"/>
          </a:xfrm>
          <a:prstGeom prst="roundRect">
            <a:avLst>
              <a:gd name="adj" fmla="val 4167"/>
            </a:avLst>
          </a:prstGeom>
          <a:solidFill>
            <a:srgbClr val="243B42"/>
          </a:solidFill>
          <a:ln/>
        </p:spPr>
      </p:sp>
      <p:sp>
        <p:nvSpPr>
          <p:cNvPr id="6" name="Text 3"/>
          <p:cNvSpPr/>
          <p:nvPr/>
        </p:nvSpPr>
        <p:spPr>
          <a:xfrm>
            <a:off x="548640" y="868680"/>
            <a:ext cx="3749040" cy="320040"/>
          </a:xfrm>
          <a:prstGeom prst="rect">
            <a:avLst/>
          </a:prstGeom>
          <a:noFill/>
          <a:ln/>
        </p:spPr>
        <p:txBody>
          <a:bodyPr wrap="square" rtlCol="0" anchor="ctr"/>
          <a:lstStyle/>
          <a:p>
            <a:pPr indent="0" marL="0">
              <a:buNone/>
            </a:pPr>
            <a:r>
              <a:rPr lang="en-US" sz="1200" b="1" dirty="0">
                <a:solidFill>
                  <a:srgbClr val="FE3B1F"/>
                </a:solidFill>
                <a:latin typeface="Arial" pitchFamily="34" charset="0"/>
                <a:ea typeface="Arial" pitchFamily="34" charset="-122"/>
                <a:cs typeface="Arial" pitchFamily="34" charset="-120"/>
              </a:rPr>
              <a:t>SOCIAL MEDIA READY</a:t>
            </a:r>
            <a:endParaRPr lang="en-US" sz="1200" dirty="0"/>
          </a:p>
        </p:txBody>
      </p:sp>
      <p:sp>
        <p:nvSpPr>
          <p:cNvPr id="7" name="Text 4"/>
          <p:cNvSpPr/>
          <p:nvPr/>
        </p:nvSpPr>
        <p:spPr>
          <a:xfrm>
            <a:off x="548640" y="1280160"/>
            <a:ext cx="374904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Open Graph tags voor Facebook/LinkedIn</a:t>
            </a:r>
            <a:endParaRPr lang="en-US" sz="1000" dirty="0"/>
          </a:p>
        </p:txBody>
      </p:sp>
      <p:sp>
        <p:nvSpPr>
          <p:cNvPr id="8" name="Text 5"/>
          <p:cNvSpPr/>
          <p:nvPr/>
        </p:nvSpPr>
        <p:spPr>
          <a:xfrm>
            <a:off x="548640" y="1600200"/>
            <a:ext cx="374904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Twitter Card optimalisatie</a:t>
            </a:r>
            <a:endParaRPr lang="en-US" sz="1000" dirty="0"/>
          </a:p>
        </p:txBody>
      </p:sp>
      <p:sp>
        <p:nvSpPr>
          <p:cNvPr id="9" name="Text 6"/>
          <p:cNvSpPr/>
          <p:nvPr/>
        </p:nvSpPr>
        <p:spPr>
          <a:xfrm>
            <a:off x="548640" y="1920240"/>
            <a:ext cx="374904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Instagram-ready afbeelding specs</a:t>
            </a:r>
            <a:endParaRPr lang="en-US" sz="1000" dirty="0"/>
          </a:p>
        </p:txBody>
      </p:sp>
      <p:sp>
        <p:nvSpPr>
          <p:cNvPr id="10" name="Text 7"/>
          <p:cNvSpPr/>
          <p:nvPr/>
        </p:nvSpPr>
        <p:spPr>
          <a:xfrm>
            <a:off x="548640" y="2240280"/>
            <a:ext cx="374904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Social snippet previews</a:t>
            </a:r>
            <a:endParaRPr lang="en-US" sz="1000" dirty="0"/>
          </a:p>
        </p:txBody>
      </p:sp>
      <p:sp>
        <p:nvSpPr>
          <p:cNvPr id="11" name="Text 8"/>
          <p:cNvSpPr/>
          <p:nvPr/>
        </p:nvSpPr>
        <p:spPr>
          <a:xfrm>
            <a:off x="548640" y="2560320"/>
            <a:ext cx="374904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Shareable content structuur</a:t>
            </a:r>
            <a:endParaRPr lang="en-US" sz="1000" dirty="0"/>
          </a:p>
        </p:txBody>
      </p:sp>
      <p:sp>
        <p:nvSpPr>
          <p:cNvPr id="12" name="Shape 9"/>
          <p:cNvSpPr/>
          <p:nvPr/>
        </p:nvSpPr>
        <p:spPr>
          <a:xfrm>
            <a:off x="4663440" y="731520"/>
            <a:ext cx="4114800" cy="2194560"/>
          </a:xfrm>
          <a:prstGeom prst="roundRect">
            <a:avLst>
              <a:gd name="adj" fmla="val 4167"/>
            </a:avLst>
          </a:prstGeom>
          <a:solidFill>
            <a:srgbClr val="243B42"/>
          </a:solidFill>
          <a:ln/>
        </p:spPr>
      </p:sp>
      <p:sp>
        <p:nvSpPr>
          <p:cNvPr id="13" name="Text 10"/>
          <p:cNvSpPr/>
          <p:nvPr/>
        </p:nvSpPr>
        <p:spPr>
          <a:xfrm>
            <a:off x="4846320" y="868680"/>
            <a:ext cx="3749040" cy="320040"/>
          </a:xfrm>
          <a:prstGeom prst="rect">
            <a:avLst/>
          </a:prstGeom>
          <a:noFill/>
          <a:ln/>
        </p:spPr>
        <p:txBody>
          <a:bodyPr wrap="square" rtlCol="0" anchor="ctr"/>
          <a:lstStyle/>
          <a:p>
            <a:pPr indent="0" marL="0">
              <a:buNone/>
            </a:pPr>
            <a:r>
              <a:rPr lang="en-US" sz="1200" b="1" dirty="0">
                <a:solidFill>
                  <a:srgbClr val="FE3B1F"/>
                </a:solidFill>
                <a:latin typeface="Arial" pitchFamily="34" charset="0"/>
                <a:ea typeface="Arial" pitchFamily="34" charset="-122"/>
                <a:cs typeface="Arial" pitchFamily="34" charset="-120"/>
              </a:rPr>
              <a:t>CONVERSIE OPTIMALISATIE</a:t>
            </a:r>
            <a:endParaRPr lang="en-US" sz="1200" dirty="0"/>
          </a:p>
        </p:txBody>
      </p:sp>
      <p:sp>
        <p:nvSpPr>
          <p:cNvPr id="14" name="Text 11"/>
          <p:cNvSpPr/>
          <p:nvPr/>
        </p:nvSpPr>
        <p:spPr>
          <a:xfrm>
            <a:off x="4846320" y="1280160"/>
            <a:ext cx="374904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Featured Snippet targeting</a:t>
            </a:r>
            <a:endParaRPr lang="en-US" sz="1000" dirty="0"/>
          </a:p>
        </p:txBody>
      </p:sp>
      <p:sp>
        <p:nvSpPr>
          <p:cNvPr id="15" name="Text 12"/>
          <p:cNvSpPr/>
          <p:nvPr/>
        </p:nvSpPr>
        <p:spPr>
          <a:xfrm>
            <a:off x="4846320" y="1600200"/>
            <a:ext cx="374904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FAQ schema voor Google</a:t>
            </a:r>
            <a:endParaRPr lang="en-US" sz="1000" dirty="0"/>
          </a:p>
        </p:txBody>
      </p:sp>
      <p:sp>
        <p:nvSpPr>
          <p:cNvPr id="16" name="Text 13"/>
          <p:cNvSpPr/>
          <p:nvPr/>
        </p:nvSpPr>
        <p:spPr>
          <a:xfrm>
            <a:off x="4846320" y="1920240"/>
            <a:ext cx="374904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Local SEO optimalisatie</a:t>
            </a:r>
            <a:endParaRPr lang="en-US" sz="1000" dirty="0"/>
          </a:p>
        </p:txBody>
      </p:sp>
      <p:sp>
        <p:nvSpPr>
          <p:cNvPr id="17" name="Text 14"/>
          <p:cNvSpPr/>
          <p:nvPr/>
        </p:nvSpPr>
        <p:spPr>
          <a:xfrm>
            <a:off x="4846320" y="2240280"/>
            <a:ext cx="374904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Call-to-action plaatsing</a:t>
            </a:r>
            <a:endParaRPr lang="en-US" sz="1000" dirty="0"/>
          </a:p>
        </p:txBody>
      </p:sp>
      <p:sp>
        <p:nvSpPr>
          <p:cNvPr id="18" name="Text 15"/>
          <p:cNvSpPr/>
          <p:nvPr/>
        </p:nvSpPr>
        <p:spPr>
          <a:xfrm>
            <a:off x="4846320" y="2560320"/>
            <a:ext cx="374904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Lead magnet content</a:t>
            </a:r>
            <a:endParaRPr lang="en-US" sz="1000" dirty="0"/>
          </a:p>
        </p:txBody>
      </p:sp>
      <p:sp>
        <p:nvSpPr>
          <p:cNvPr id="19" name="Text 16"/>
          <p:cNvSpPr/>
          <p:nvPr/>
        </p:nvSpPr>
        <p:spPr>
          <a:xfrm>
            <a:off x="457200" y="3108960"/>
            <a:ext cx="8229600" cy="32004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BEZOEKER JOURNEY OPTIMALISATIE</a:t>
            </a:r>
            <a:endParaRPr lang="en-US" sz="1300" dirty="0"/>
          </a:p>
        </p:txBody>
      </p:sp>
      <p:sp>
        <p:nvSpPr>
          <p:cNvPr id="20" name="Shape 17"/>
          <p:cNvSpPr/>
          <p:nvPr/>
        </p:nvSpPr>
        <p:spPr>
          <a:xfrm>
            <a:off x="731520" y="3566160"/>
            <a:ext cx="1920240" cy="1097280"/>
          </a:xfrm>
          <a:prstGeom prst="roundRect">
            <a:avLst>
              <a:gd name="adj" fmla="val 6667"/>
            </a:avLst>
          </a:prstGeom>
          <a:solidFill>
            <a:srgbClr val="FE3B1F"/>
          </a:solidFill>
          <a:ln/>
        </p:spPr>
      </p:sp>
      <p:sp>
        <p:nvSpPr>
          <p:cNvPr id="21" name="Text 18"/>
          <p:cNvSpPr/>
          <p:nvPr/>
        </p:nvSpPr>
        <p:spPr>
          <a:xfrm>
            <a:off x="731520" y="3657600"/>
            <a:ext cx="192024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Google Zoeken</a:t>
            </a:r>
            <a:endParaRPr lang="en-US" sz="1000" dirty="0"/>
          </a:p>
        </p:txBody>
      </p:sp>
      <p:sp>
        <p:nvSpPr>
          <p:cNvPr id="22" name="Text 19"/>
          <p:cNvSpPr/>
          <p:nvPr/>
        </p:nvSpPr>
        <p:spPr>
          <a:xfrm>
            <a:off x="731520" y="4023360"/>
            <a:ext cx="1920240" cy="365760"/>
          </a:xfrm>
          <a:prstGeom prst="rect">
            <a:avLst/>
          </a:prstGeom>
          <a:noFill/>
          <a:ln/>
        </p:spPr>
        <p:txBody>
          <a:bodyPr wrap="square" rtlCol="0" anchor="ctr"/>
          <a:lstStyle/>
          <a:p>
            <a:pPr algn="ctr" indent="0" marL="0">
              <a:buNone/>
            </a:pPr>
            <a:r>
              <a:rPr lang="en-US" sz="900" dirty="0">
                <a:solidFill>
                  <a:srgbClr val="FFE0DC"/>
                </a:solidFill>
                <a:latin typeface="Arial" pitchFamily="34" charset="0"/>
                <a:ea typeface="Arial" pitchFamily="34" charset="-122"/>
                <a:cs typeface="Arial" pitchFamily="34" charset="-120"/>
              </a:rPr>
              <a:t>SEO Content</a:t>
            </a:r>
            <a:endParaRPr lang="en-US" sz="900" dirty="0"/>
          </a:p>
        </p:txBody>
      </p:sp>
      <p:sp>
        <p:nvSpPr>
          <p:cNvPr id="23" name="Text 20"/>
          <p:cNvSpPr/>
          <p:nvPr/>
        </p:nvSpPr>
        <p:spPr>
          <a:xfrm>
            <a:off x="2560320" y="3840480"/>
            <a:ext cx="365760" cy="457200"/>
          </a:xfrm>
          <a:prstGeom prst="rect">
            <a:avLst/>
          </a:prstGeom>
          <a:noFill/>
          <a:ln/>
        </p:spPr>
        <p:txBody>
          <a:bodyPr wrap="square" rtlCol="0" anchor="ctr"/>
          <a:lstStyle/>
          <a:p>
            <a:pPr indent="0" marL="0">
              <a:buNone/>
            </a:pPr>
            <a:r>
              <a:rPr lang="en-US" sz="1600" dirty="0">
                <a:solidFill>
                  <a:srgbClr val="6B7280"/>
                </a:solidFill>
                <a:latin typeface="Arial" pitchFamily="34" charset="0"/>
                <a:ea typeface="Arial" pitchFamily="34" charset="-122"/>
                <a:cs typeface="Arial" pitchFamily="34" charset="-120"/>
              </a:rPr>
              <a:t>&gt;</a:t>
            </a:r>
            <a:endParaRPr lang="en-US" sz="1600" dirty="0"/>
          </a:p>
        </p:txBody>
      </p:sp>
      <p:sp>
        <p:nvSpPr>
          <p:cNvPr id="24" name="Shape 21"/>
          <p:cNvSpPr/>
          <p:nvPr/>
        </p:nvSpPr>
        <p:spPr>
          <a:xfrm>
            <a:off x="2834640" y="3566160"/>
            <a:ext cx="1920240" cy="1097280"/>
          </a:xfrm>
          <a:prstGeom prst="roundRect">
            <a:avLst>
              <a:gd name="adj" fmla="val 6667"/>
            </a:avLst>
          </a:prstGeom>
          <a:solidFill>
            <a:srgbClr val="FE3B1F"/>
          </a:solidFill>
          <a:ln/>
        </p:spPr>
      </p:sp>
      <p:sp>
        <p:nvSpPr>
          <p:cNvPr id="25" name="Text 22"/>
          <p:cNvSpPr/>
          <p:nvPr/>
        </p:nvSpPr>
        <p:spPr>
          <a:xfrm>
            <a:off x="2834640" y="3657600"/>
            <a:ext cx="192024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Landingspagina</a:t>
            </a:r>
            <a:endParaRPr lang="en-US" sz="1000" dirty="0"/>
          </a:p>
        </p:txBody>
      </p:sp>
      <p:sp>
        <p:nvSpPr>
          <p:cNvPr id="26" name="Text 23"/>
          <p:cNvSpPr/>
          <p:nvPr/>
        </p:nvSpPr>
        <p:spPr>
          <a:xfrm>
            <a:off x="2834640" y="4023360"/>
            <a:ext cx="1920240" cy="365760"/>
          </a:xfrm>
          <a:prstGeom prst="rect">
            <a:avLst/>
          </a:prstGeom>
          <a:noFill/>
          <a:ln/>
        </p:spPr>
        <p:txBody>
          <a:bodyPr wrap="square" rtlCol="0" anchor="ctr"/>
          <a:lstStyle/>
          <a:p>
            <a:pPr algn="ctr" indent="0" marL="0">
              <a:buNone/>
            </a:pPr>
            <a:r>
              <a:rPr lang="en-US" sz="900" dirty="0">
                <a:solidFill>
                  <a:srgbClr val="FFE0DC"/>
                </a:solidFill>
                <a:latin typeface="Arial" pitchFamily="34" charset="0"/>
                <a:ea typeface="Arial" pitchFamily="34" charset="-122"/>
                <a:cs typeface="Arial" pitchFamily="34" charset="-120"/>
              </a:rPr>
              <a:t>Relevante Info</a:t>
            </a:r>
            <a:endParaRPr lang="en-US" sz="900" dirty="0"/>
          </a:p>
        </p:txBody>
      </p:sp>
      <p:sp>
        <p:nvSpPr>
          <p:cNvPr id="27" name="Text 24"/>
          <p:cNvSpPr/>
          <p:nvPr/>
        </p:nvSpPr>
        <p:spPr>
          <a:xfrm>
            <a:off x="4663440" y="3840480"/>
            <a:ext cx="365760" cy="457200"/>
          </a:xfrm>
          <a:prstGeom prst="rect">
            <a:avLst/>
          </a:prstGeom>
          <a:noFill/>
          <a:ln/>
        </p:spPr>
        <p:txBody>
          <a:bodyPr wrap="square" rtlCol="0" anchor="ctr"/>
          <a:lstStyle/>
          <a:p>
            <a:pPr indent="0" marL="0">
              <a:buNone/>
            </a:pPr>
            <a:r>
              <a:rPr lang="en-US" sz="1600" dirty="0">
                <a:solidFill>
                  <a:srgbClr val="6B7280"/>
                </a:solidFill>
                <a:latin typeface="Arial" pitchFamily="34" charset="0"/>
                <a:ea typeface="Arial" pitchFamily="34" charset="-122"/>
                <a:cs typeface="Arial" pitchFamily="34" charset="-120"/>
              </a:rPr>
              <a:t>&gt;</a:t>
            </a:r>
            <a:endParaRPr lang="en-US" sz="1600" dirty="0"/>
          </a:p>
        </p:txBody>
      </p:sp>
      <p:sp>
        <p:nvSpPr>
          <p:cNvPr id="28" name="Shape 25"/>
          <p:cNvSpPr/>
          <p:nvPr/>
        </p:nvSpPr>
        <p:spPr>
          <a:xfrm>
            <a:off x="4937760" y="3566160"/>
            <a:ext cx="1920240" cy="1097280"/>
          </a:xfrm>
          <a:prstGeom prst="roundRect">
            <a:avLst>
              <a:gd name="adj" fmla="val 6667"/>
            </a:avLst>
          </a:prstGeom>
          <a:solidFill>
            <a:srgbClr val="FE3B1F"/>
          </a:solidFill>
          <a:ln/>
        </p:spPr>
      </p:sp>
      <p:sp>
        <p:nvSpPr>
          <p:cNvPr id="29" name="Text 26"/>
          <p:cNvSpPr/>
          <p:nvPr/>
        </p:nvSpPr>
        <p:spPr>
          <a:xfrm>
            <a:off x="4937760" y="3657600"/>
            <a:ext cx="192024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Verdieping</a:t>
            </a:r>
            <a:endParaRPr lang="en-US" sz="1000" dirty="0"/>
          </a:p>
        </p:txBody>
      </p:sp>
      <p:sp>
        <p:nvSpPr>
          <p:cNvPr id="30" name="Text 27"/>
          <p:cNvSpPr/>
          <p:nvPr/>
        </p:nvSpPr>
        <p:spPr>
          <a:xfrm>
            <a:off x="4937760" y="4023360"/>
            <a:ext cx="1920240" cy="365760"/>
          </a:xfrm>
          <a:prstGeom prst="rect">
            <a:avLst/>
          </a:prstGeom>
          <a:noFill/>
          <a:ln/>
        </p:spPr>
        <p:txBody>
          <a:bodyPr wrap="square" rtlCol="0" anchor="ctr"/>
          <a:lstStyle/>
          <a:p>
            <a:pPr algn="ctr" indent="0" marL="0">
              <a:buNone/>
            </a:pPr>
            <a:r>
              <a:rPr lang="en-US" sz="900" dirty="0">
                <a:solidFill>
                  <a:srgbClr val="FFE0DC"/>
                </a:solidFill>
                <a:latin typeface="Arial" pitchFamily="34" charset="0"/>
                <a:ea typeface="Arial" pitchFamily="34" charset="-122"/>
                <a:cs typeface="Arial" pitchFamily="34" charset="-120"/>
              </a:rPr>
              <a:t>Detail Content</a:t>
            </a:r>
            <a:endParaRPr lang="en-US" sz="900" dirty="0"/>
          </a:p>
        </p:txBody>
      </p:sp>
      <p:sp>
        <p:nvSpPr>
          <p:cNvPr id="31" name="Text 28"/>
          <p:cNvSpPr/>
          <p:nvPr/>
        </p:nvSpPr>
        <p:spPr>
          <a:xfrm>
            <a:off x="6766560" y="3840480"/>
            <a:ext cx="365760" cy="457200"/>
          </a:xfrm>
          <a:prstGeom prst="rect">
            <a:avLst/>
          </a:prstGeom>
          <a:noFill/>
          <a:ln/>
        </p:spPr>
        <p:txBody>
          <a:bodyPr wrap="square" rtlCol="0" anchor="ctr"/>
          <a:lstStyle/>
          <a:p>
            <a:pPr indent="0" marL="0">
              <a:buNone/>
            </a:pPr>
            <a:r>
              <a:rPr lang="en-US" sz="1600" dirty="0">
                <a:solidFill>
                  <a:srgbClr val="6B7280"/>
                </a:solidFill>
                <a:latin typeface="Arial" pitchFamily="34" charset="0"/>
                <a:ea typeface="Arial" pitchFamily="34" charset="-122"/>
                <a:cs typeface="Arial" pitchFamily="34" charset="-120"/>
              </a:rPr>
              <a:t>&gt;</a:t>
            </a:r>
            <a:endParaRPr lang="en-US" sz="1600" dirty="0"/>
          </a:p>
        </p:txBody>
      </p:sp>
      <p:sp>
        <p:nvSpPr>
          <p:cNvPr id="32" name="Shape 29"/>
          <p:cNvSpPr/>
          <p:nvPr/>
        </p:nvSpPr>
        <p:spPr>
          <a:xfrm>
            <a:off x="7040880" y="3566160"/>
            <a:ext cx="1920240" cy="1097280"/>
          </a:xfrm>
          <a:prstGeom prst="roundRect">
            <a:avLst>
              <a:gd name="adj" fmla="val 6667"/>
            </a:avLst>
          </a:prstGeom>
          <a:solidFill>
            <a:srgbClr val="10B981"/>
          </a:solidFill>
          <a:ln/>
        </p:spPr>
      </p:sp>
      <p:sp>
        <p:nvSpPr>
          <p:cNvPr id="33" name="Text 30"/>
          <p:cNvSpPr/>
          <p:nvPr/>
        </p:nvSpPr>
        <p:spPr>
          <a:xfrm>
            <a:off x="7040880" y="3657600"/>
            <a:ext cx="192024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Conversie</a:t>
            </a:r>
            <a:endParaRPr lang="en-US" sz="1000" dirty="0"/>
          </a:p>
        </p:txBody>
      </p:sp>
      <p:sp>
        <p:nvSpPr>
          <p:cNvPr id="34" name="Text 31"/>
          <p:cNvSpPr/>
          <p:nvPr/>
        </p:nvSpPr>
        <p:spPr>
          <a:xfrm>
            <a:off x="7040880" y="4023360"/>
            <a:ext cx="1920240" cy="365760"/>
          </a:xfrm>
          <a:prstGeom prst="rect">
            <a:avLst/>
          </a:prstGeom>
          <a:noFill/>
          <a:ln/>
        </p:spPr>
        <p:txBody>
          <a:bodyPr wrap="square" rtlCol="0" anchor="ctr"/>
          <a:lstStyle/>
          <a:p>
            <a:pPr algn="ctr" indent="0" marL="0">
              <a:buNone/>
            </a:pPr>
            <a:r>
              <a:rPr lang="en-US" sz="900" dirty="0">
                <a:solidFill>
                  <a:srgbClr val="FFE0DC"/>
                </a:solidFill>
                <a:latin typeface="Arial" pitchFamily="34" charset="0"/>
                <a:ea typeface="Arial" pitchFamily="34" charset="-122"/>
                <a:cs typeface="Arial" pitchFamily="34" charset="-120"/>
              </a:rPr>
              <a:t>Lead Capture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www\cost-of-retreival-reducer\tmp\presentation\slides\brightlot-dark.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137160" cy="5143500"/>
          </a:xfrm>
          <a:prstGeom prst="rect">
            <a:avLst/>
          </a:prstGeom>
          <a:solidFill>
            <a:srgbClr val="FE3B1F"/>
          </a:solidFill>
          <a:ln/>
        </p:spPr>
      </p:sp>
      <p:sp>
        <p:nvSpPr>
          <p:cNvPr id="4" name="Text 1"/>
          <p:cNvSpPr/>
          <p:nvPr/>
        </p:nvSpPr>
        <p:spPr>
          <a:xfrm>
            <a:off x="457200" y="182880"/>
            <a:ext cx="8229600" cy="365760"/>
          </a:xfrm>
          <a:prstGeom prst="rect">
            <a:avLst/>
          </a:prstGeom>
          <a:noFill/>
          <a:ln/>
        </p:spPr>
        <p:txBody>
          <a:bodyPr wrap="square" rtlCol="0" anchor="ctr"/>
          <a:lstStyle/>
          <a:p>
            <a:pPr algn="ctr" indent="0" marL="0">
              <a:buNone/>
            </a:pPr>
            <a:r>
              <a:rPr lang="en-US" sz="2400" b="1" dirty="0">
                <a:solidFill>
                  <a:srgbClr val="FE3B1F"/>
                </a:solidFill>
                <a:latin typeface="Arial" pitchFamily="34" charset="0"/>
                <a:ea typeface="Arial" pitchFamily="34" charset="-122"/>
                <a:cs typeface="Arial" pitchFamily="34" charset="-120"/>
              </a:rPr>
              <a:t>AI-GESTUURDE CONTENT</a:t>
            </a:r>
            <a:endParaRPr lang="en-US" sz="2400" dirty="0"/>
          </a:p>
        </p:txBody>
      </p:sp>
      <p:sp>
        <p:nvSpPr>
          <p:cNvPr id="5" name="Text 2"/>
          <p:cNvSpPr/>
          <p:nvPr/>
        </p:nvSpPr>
        <p:spPr>
          <a:xfrm>
            <a:off x="457200" y="502920"/>
            <a:ext cx="8229600" cy="274320"/>
          </a:xfrm>
          <a:prstGeom prst="rect">
            <a:avLst/>
          </a:prstGeom>
          <a:noFill/>
          <a:ln/>
        </p:spPr>
        <p:txBody>
          <a:bodyPr wrap="square" rtlCol="0" anchor="ctr"/>
          <a:lstStyle/>
          <a:p>
            <a:pPr algn="ctr" indent="0" marL="0">
              <a:buNone/>
            </a:pPr>
            <a:r>
              <a:rPr lang="en-US" sz="1200" dirty="0">
                <a:solidFill>
                  <a:srgbClr val="6B7280"/>
                </a:solidFill>
                <a:latin typeface="Arial" pitchFamily="34" charset="0"/>
                <a:ea typeface="Arial" pitchFamily="34" charset="-122"/>
                <a:cs typeface="Arial" pitchFamily="34" charset="-120"/>
              </a:rPr>
              <a:t>9 optimalisatiepasses voor perfecte content</a:t>
            </a:r>
            <a:endParaRPr lang="en-US" sz="1200" dirty="0"/>
          </a:p>
        </p:txBody>
      </p:sp>
      <p:sp>
        <p:nvSpPr>
          <p:cNvPr id="6" name="Shape 3"/>
          <p:cNvSpPr/>
          <p:nvPr/>
        </p:nvSpPr>
        <p:spPr>
          <a:xfrm>
            <a:off x="731520" y="914400"/>
            <a:ext cx="2560320" cy="1051560"/>
          </a:xfrm>
          <a:prstGeom prst="roundRect">
            <a:avLst>
              <a:gd name="adj" fmla="val 6957"/>
            </a:avLst>
          </a:prstGeom>
          <a:solidFill>
            <a:srgbClr val="243B42"/>
          </a:solidFill>
          <a:ln w="25400">
            <a:solidFill>
              <a:srgbClr val="FE3B1F"/>
            </a:solidFill>
            <a:prstDash val="solid"/>
          </a:ln>
        </p:spPr>
      </p:sp>
      <p:sp>
        <p:nvSpPr>
          <p:cNvPr id="7" name="Shape 4"/>
          <p:cNvSpPr/>
          <p:nvPr/>
        </p:nvSpPr>
        <p:spPr>
          <a:xfrm>
            <a:off x="822960" y="1005840"/>
            <a:ext cx="411480" cy="411480"/>
          </a:xfrm>
          <a:prstGeom prst="ellipse">
            <a:avLst/>
          </a:prstGeom>
          <a:solidFill>
            <a:srgbClr val="FE3B1F"/>
          </a:solidFill>
          <a:ln/>
        </p:spPr>
      </p:sp>
      <p:sp>
        <p:nvSpPr>
          <p:cNvPr id="8" name="Text 5"/>
          <p:cNvSpPr/>
          <p:nvPr/>
        </p:nvSpPr>
        <p:spPr>
          <a:xfrm>
            <a:off x="822960" y="1051560"/>
            <a:ext cx="41148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9" name="Text 6"/>
          <p:cNvSpPr/>
          <p:nvPr/>
        </p:nvSpPr>
        <p:spPr>
          <a:xfrm>
            <a:off x="1280160" y="1051560"/>
            <a:ext cx="192024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Draft</a:t>
            </a:r>
            <a:endParaRPr lang="en-US" sz="1200" dirty="0"/>
          </a:p>
        </p:txBody>
      </p:sp>
      <p:sp>
        <p:nvSpPr>
          <p:cNvPr id="10" name="Text 7"/>
          <p:cNvSpPr/>
          <p:nvPr/>
        </p:nvSpPr>
        <p:spPr>
          <a:xfrm>
            <a:off x="822960" y="1463040"/>
            <a:ext cx="2377440" cy="365760"/>
          </a:xfrm>
          <a:prstGeom prst="rect">
            <a:avLst/>
          </a:prstGeom>
          <a:noFill/>
          <a:ln/>
        </p:spPr>
        <p:txBody>
          <a:bodyPr wrap="square" rtlCol="0" anchor="ctr"/>
          <a:lstStyle/>
          <a:p>
            <a:pPr indent="0" marL="0">
              <a:buNone/>
            </a:pPr>
            <a:r>
              <a:rPr lang="en-US" sz="900" dirty="0">
                <a:solidFill>
                  <a:srgbClr val="6B7280"/>
                </a:solidFill>
                <a:latin typeface="Arial" pitchFamily="34" charset="0"/>
                <a:ea typeface="Arial" pitchFamily="34" charset="-122"/>
                <a:cs typeface="Arial" pitchFamily="34" charset="-120"/>
              </a:rPr>
              <a:t>Initieel concept</a:t>
            </a:r>
            <a:endParaRPr lang="en-US" sz="900" dirty="0"/>
          </a:p>
        </p:txBody>
      </p:sp>
      <p:sp>
        <p:nvSpPr>
          <p:cNvPr id="11" name="Shape 8"/>
          <p:cNvSpPr/>
          <p:nvPr/>
        </p:nvSpPr>
        <p:spPr>
          <a:xfrm>
            <a:off x="3474720" y="914400"/>
            <a:ext cx="2560320" cy="1051560"/>
          </a:xfrm>
          <a:prstGeom prst="roundRect">
            <a:avLst>
              <a:gd name="adj" fmla="val 6957"/>
            </a:avLst>
          </a:prstGeom>
          <a:solidFill>
            <a:srgbClr val="243B42"/>
          </a:solidFill>
          <a:ln w="25400">
            <a:solidFill>
              <a:srgbClr val="FE3B1F"/>
            </a:solidFill>
            <a:prstDash val="solid"/>
          </a:ln>
        </p:spPr>
      </p:sp>
      <p:sp>
        <p:nvSpPr>
          <p:cNvPr id="12" name="Shape 9"/>
          <p:cNvSpPr/>
          <p:nvPr/>
        </p:nvSpPr>
        <p:spPr>
          <a:xfrm>
            <a:off x="3566160" y="1005840"/>
            <a:ext cx="411480" cy="411480"/>
          </a:xfrm>
          <a:prstGeom prst="ellipse">
            <a:avLst/>
          </a:prstGeom>
          <a:solidFill>
            <a:srgbClr val="FE3B1F"/>
          </a:solidFill>
          <a:ln/>
        </p:spPr>
      </p:sp>
      <p:sp>
        <p:nvSpPr>
          <p:cNvPr id="13" name="Text 10"/>
          <p:cNvSpPr/>
          <p:nvPr/>
        </p:nvSpPr>
        <p:spPr>
          <a:xfrm>
            <a:off x="3566160" y="1051560"/>
            <a:ext cx="41148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4" name="Text 11"/>
          <p:cNvSpPr/>
          <p:nvPr/>
        </p:nvSpPr>
        <p:spPr>
          <a:xfrm>
            <a:off x="4023360" y="1051560"/>
            <a:ext cx="192024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Headers</a:t>
            </a:r>
            <a:endParaRPr lang="en-US" sz="1200" dirty="0"/>
          </a:p>
        </p:txBody>
      </p:sp>
      <p:sp>
        <p:nvSpPr>
          <p:cNvPr id="15" name="Text 12"/>
          <p:cNvSpPr/>
          <p:nvPr/>
        </p:nvSpPr>
        <p:spPr>
          <a:xfrm>
            <a:off x="3566160" y="1463040"/>
            <a:ext cx="2377440" cy="365760"/>
          </a:xfrm>
          <a:prstGeom prst="rect">
            <a:avLst/>
          </a:prstGeom>
          <a:noFill/>
          <a:ln/>
        </p:spPr>
        <p:txBody>
          <a:bodyPr wrap="square" rtlCol="0" anchor="ctr"/>
          <a:lstStyle/>
          <a:p>
            <a:pPr indent="0" marL="0">
              <a:buNone/>
            </a:pPr>
            <a:r>
              <a:rPr lang="en-US" sz="900" dirty="0">
                <a:solidFill>
                  <a:srgbClr val="6B7280"/>
                </a:solidFill>
                <a:latin typeface="Arial" pitchFamily="34" charset="0"/>
                <a:ea typeface="Arial" pitchFamily="34" charset="-122"/>
                <a:cs typeface="Arial" pitchFamily="34" charset="-120"/>
              </a:rPr>
              <a:t>Kop structuur</a:t>
            </a:r>
            <a:endParaRPr lang="en-US" sz="900" dirty="0"/>
          </a:p>
        </p:txBody>
      </p:sp>
      <p:sp>
        <p:nvSpPr>
          <p:cNvPr id="16" name="Shape 13"/>
          <p:cNvSpPr/>
          <p:nvPr/>
        </p:nvSpPr>
        <p:spPr>
          <a:xfrm>
            <a:off x="6217920" y="914400"/>
            <a:ext cx="2560320" cy="1051560"/>
          </a:xfrm>
          <a:prstGeom prst="roundRect">
            <a:avLst>
              <a:gd name="adj" fmla="val 6957"/>
            </a:avLst>
          </a:prstGeom>
          <a:solidFill>
            <a:srgbClr val="243B42"/>
          </a:solidFill>
          <a:ln w="25400">
            <a:solidFill>
              <a:srgbClr val="FE3B1F"/>
            </a:solidFill>
            <a:prstDash val="solid"/>
          </a:ln>
        </p:spPr>
      </p:sp>
      <p:sp>
        <p:nvSpPr>
          <p:cNvPr id="17" name="Shape 14"/>
          <p:cNvSpPr/>
          <p:nvPr/>
        </p:nvSpPr>
        <p:spPr>
          <a:xfrm>
            <a:off x="6309360" y="1005840"/>
            <a:ext cx="411480" cy="411480"/>
          </a:xfrm>
          <a:prstGeom prst="ellipse">
            <a:avLst/>
          </a:prstGeom>
          <a:solidFill>
            <a:srgbClr val="FE3B1F"/>
          </a:solidFill>
          <a:ln/>
        </p:spPr>
      </p:sp>
      <p:sp>
        <p:nvSpPr>
          <p:cNvPr id="18" name="Text 15"/>
          <p:cNvSpPr/>
          <p:nvPr/>
        </p:nvSpPr>
        <p:spPr>
          <a:xfrm>
            <a:off x="6309360" y="1051560"/>
            <a:ext cx="41148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9" name="Text 16"/>
          <p:cNvSpPr/>
          <p:nvPr/>
        </p:nvSpPr>
        <p:spPr>
          <a:xfrm>
            <a:off x="6766560" y="1051560"/>
            <a:ext cx="192024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Intro</a:t>
            </a:r>
            <a:endParaRPr lang="en-US" sz="1200" dirty="0"/>
          </a:p>
        </p:txBody>
      </p:sp>
      <p:sp>
        <p:nvSpPr>
          <p:cNvPr id="20" name="Text 17"/>
          <p:cNvSpPr/>
          <p:nvPr/>
        </p:nvSpPr>
        <p:spPr>
          <a:xfrm>
            <a:off x="6309360" y="1463040"/>
            <a:ext cx="2377440" cy="365760"/>
          </a:xfrm>
          <a:prstGeom prst="rect">
            <a:avLst/>
          </a:prstGeom>
          <a:noFill/>
          <a:ln/>
        </p:spPr>
        <p:txBody>
          <a:bodyPr wrap="square" rtlCol="0" anchor="ctr"/>
          <a:lstStyle/>
          <a:p>
            <a:pPr indent="0" marL="0">
              <a:buNone/>
            </a:pPr>
            <a:r>
              <a:rPr lang="en-US" sz="900" dirty="0">
                <a:solidFill>
                  <a:srgbClr val="6B7280"/>
                </a:solidFill>
                <a:latin typeface="Arial" pitchFamily="34" charset="0"/>
                <a:ea typeface="Arial" pitchFamily="34" charset="-122"/>
                <a:cs typeface="Arial" pitchFamily="34" charset="-120"/>
              </a:rPr>
              <a:t>Opening optimaal</a:t>
            </a:r>
            <a:endParaRPr lang="en-US" sz="900" dirty="0"/>
          </a:p>
        </p:txBody>
      </p:sp>
      <p:sp>
        <p:nvSpPr>
          <p:cNvPr id="21" name="Shape 18"/>
          <p:cNvSpPr/>
          <p:nvPr/>
        </p:nvSpPr>
        <p:spPr>
          <a:xfrm>
            <a:off x="731520" y="2194560"/>
            <a:ext cx="2560320" cy="1051560"/>
          </a:xfrm>
          <a:prstGeom prst="roundRect">
            <a:avLst>
              <a:gd name="adj" fmla="val 6957"/>
            </a:avLst>
          </a:prstGeom>
          <a:solidFill>
            <a:srgbClr val="243B42"/>
          </a:solidFill>
          <a:ln w="25400">
            <a:solidFill>
              <a:srgbClr val="FE3B1F"/>
            </a:solidFill>
            <a:prstDash val="solid"/>
          </a:ln>
        </p:spPr>
      </p:sp>
      <p:sp>
        <p:nvSpPr>
          <p:cNvPr id="22" name="Shape 19"/>
          <p:cNvSpPr/>
          <p:nvPr/>
        </p:nvSpPr>
        <p:spPr>
          <a:xfrm>
            <a:off x="822960" y="2286000"/>
            <a:ext cx="411480" cy="411480"/>
          </a:xfrm>
          <a:prstGeom prst="ellipse">
            <a:avLst/>
          </a:prstGeom>
          <a:solidFill>
            <a:srgbClr val="FE3B1F"/>
          </a:solidFill>
          <a:ln/>
        </p:spPr>
      </p:sp>
      <p:sp>
        <p:nvSpPr>
          <p:cNvPr id="23" name="Text 20"/>
          <p:cNvSpPr/>
          <p:nvPr/>
        </p:nvSpPr>
        <p:spPr>
          <a:xfrm>
            <a:off x="822960" y="2331720"/>
            <a:ext cx="41148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4" name="Text 21"/>
          <p:cNvSpPr/>
          <p:nvPr/>
        </p:nvSpPr>
        <p:spPr>
          <a:xfrm>
            <a:off x="1280160" y="2331720"/>
            <a:ext cx="192024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Lijsten</a:t>
            </a:r>
            <a:endParaRPr lang="en-US" sz="1200" dirty="0"/>
          </a:p>
        </p:txBody>
      </p:sp>
      <p:sp>
        <p:nvSpPr>
          <p:cNvPr id="25" name="Text 22"/>
          <p:cNvSpPr/>
          <p:nvPr/>
        </p:nvSpPr>
        <p:spPr>
          <a:xfrm>
            <a:off x="822960" y="2743200"/>
            <a:ext cx="2377440" cy="365760"/>
          </a:xfrm>
          <a:prstGeom prst="rect">
            <a:avLst/>
          </a:prstGeom>
          <a:noFill/>
          <a:ln/>
        </p:spPr>
        <p:txBody>
          <a:bodyPr wrap="square" rtlCol="0" anchor="ctr"/>
          <a:lstStyle/>
          <a:p>
            <a:pPr indent="0" marL="0">
              <a:buNone/>
            </a:pPr>
            <a:r>
              <a:rPr lang="en-US" sz="900" dirty="0">
                <a:solidFill>
                  <a:srgbClr val="6B7280"/>
                </a:solidFill>
                <a:latin typeface="Arial" pitchFamily="34" charset="0"/>
                <a:ea typeface="Arial" pitchFamily="34" charset="-122"/>
                <a:cs typeface="Arial" pitchFamily="34" charset="-120"/>
              </a:rPr>
              <a:t>Scanbare content</a:t>
            </a:r>
            <a:endParaRPr lang="en-US" sz="900" dirty="0"/>
          </a:p>
        </p:txBody>
      </p:sp>
      <p:sp>
        <p:nvSpPr>
          <p:cNvPr id="26" name="Shape 23"/>
          <p:cNvSpPr/>
          <p:nvPr/>
        </p:nvSpPr>
        <p:spPr>
          <a:xfrm>
            <a:off x="3474720" y="2194560"/>
            <a:ext cx="2560320" cy="1051560"/>
          </a:xfrm>
          <a:prstGeom prst="roundRect">
            <a:avLst>
              <a:gd name="adj" fmla="val 6957"/>
            </a:avLst>
          </a:prstGeom>
          <a:solidFill>
            <a:srgbClr val="243B42"/>
          </a:solidFill>
          <a:ln w="25400">
            <a:solidFill>
              <a:srgbClr val="FE3B1F"/>
            </a:solidFill>
            <a:prstDash val="solid"/>
          </a:ln>
        </p:spPr>
      </p:sp>
      <p:sp>
        <p:nvSpPr>
          <p:cNvPr id="27" name="Shape 24"/>
          <p:cNvSpPr/>
          <p:nvPr/>
        </p:nvSpPr>
        <p:spPr>
          <a:xfrm>
            <a:off x="3566160" y="2286000"/>
            <a:ext cx="411480" cy="411480"/>
          </a:xfrm>
          <a:prstGeom prst="ellipse">
            <a:avLst/>
          </a:prstGeom>
          <a:solidFill>
            <a:srgbClr val="FE3B1F"/>
          </a:solidFill>
          <a:ln/>
        </p:spPr>
      </p:sp>
      <p:sp>
        <p:nvSpPr>
          <p:cNvPr id="28" name="Text 25"/>
          <p:cNvSpPr/>
          <p:nvPr/>
        </p:nvSpPr>
        <p:spPr>
          <a:xfrm>
            <a:off x="3566160" y="2331720"/>
            <a:ext cx="41148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29" name="Text 26"/>
          <p:cNvSpPr/>
          <p:nvPr/>
        </p:nvSpPr>
        <p:spPr>
          <a:xfrm>
            <a:off x="4023360" y="2331720"/>
            <a:ext cx="192024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Flow</a:t>
            </a:r>
            <a:endParaRPr lang="en-US" sz="1200" dirty="0"/>
          </a:p>
        </p:txBody>
      </p:sp>
      <p:sp>
        <p:nvSpPr>
          <p:cNvPr id="30" name="Text 27"/>
          <p:cNvSpPr/>
          <p:nvPr/>
        </p:nvSpPr>
        <p:spPr>
          <a:xfrm>
            <a:off x="3566160" y="2743200"/>
            <a:ext cx="2377440" cy="365760"/>
          </a:xfrm>
          <a:prstGeom prst="rect">
            <a:avLst/>
          </a:prstGeom>
          <a:noFill/>
          <a:ln/>
        </p:spPr>
        <p:txBody>
          <a:bodyPr wrap="square" rtlCol="0" anchor="ctr"/>
          <a:lstStyle/>
          <a:p>
            <a:pPr indent="0" marL="0">
              <a:buNone/>
            </a:pPr>
            <a:r>
              <a:rPr lang="en-US" sz="900" dirty="0">
                <a:solidFill>
                  <a:srgbClr val="6B7280"/>
                </a:solidFill>
                <a:latin typeface="Arial" pitchFamily="34" charset="0"/>
                <a:ea typeface="Arial" pitchFamily="34" charset="-122"/>
                <a:cs typeface="Arial" pitchFamily="34" charset="-120"/>
              </a:rPr>
              <a:t>Leesbaarheid</a:t>
            </a:r>
            <a:endParaRPr lang="en-US" sz="900" dirty="0"/>
          </a:p>
        </p:txBody>
      </p:sp>
      <p:sp>
        <p:nvSpPr>
          <p:cNvPr id="31" name="Shape 28"/>
          <p:cNvSpPr/>
          <p:nvPr/>
        </p:nvSpPr>
        <p:spPr>
          <a:xfrm>
            <a:off x="6217920" y="2194560"/>
            <a:ext cx="2560320" cy="1051560"/>
          </a:xfrm>
          <a:prstGeom prst="roundRect">
            <a:avLst>
              <a:gd name="adj" fmla="val 6957"/>
            </a:avLst>
          </a:prstGeom>
          <a:solidFill>
            <a:srgbClr val="243B42"/>
          </a:solidFill>
          <a:ln w="25400">
            <a:solidFill>
              <a:srgbClr val="FE3B1F"/>
            </a:solidFill>
            <a:prstDash val="solid"/>
          </a:ln>
        </p:spPr>
      </p:sp>
      <p:sp>
        <p:nvSpPr>
          <p:cNvPr id="32" name="Shape 29"/>
          <p:cNvSpPr/>
          <p:nvPr/>
        </p:nvSpPr>
        <p:spPr>
          <a:xfrm>
            <a:off x="6309360" y="2286000"/>
            <a:ext cx="411480" cy="411480"/>
          </a:xfrm>
          <a:prstGeom prst="ellipse">
            <a:avLst/>
          </a:prstGeom>
          <a:solidFill>
            <a:srgbClr val="FE3B1F"/>
          </a:solidFill>
          <a:ln/>
        </p:spPr>
      </p:sp>
      <p:sp>
        <p:nvSpPr>
          <p:cNvPr id="33" name="Text 30"/>
          <p:cNvSpPr/>
          <p:nvPr/>
        </p:nvSpPr>
        <p:spPr>
          <a:xfrm>
            <a:off x="6309360" y="2331720"/>
            <a:ext cx="41148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34" name="Text 31"/>
          <p:cNvSpPr/>
          <p:nvPr/>
        </p:nvSpPr>
        <p:spPr>
          <a:xfrm>
            <a:off x="6766560" y="2331720"/>
            <a:ext cx="192024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Micro</a:t>
            </a:r>
            <a:endParaRPr lang="en-US" sz="1200" dirty="0"/>
          </a:p>
        </p:txBody>
      </p:sp>
      <p:sp>
        <p:nvSpPr>
          <p:cNvPr id="35" name="Text 32"/>
          <p:cNvSpPr/>
          <p:nvPr/>
        </p:nvSpPr>
        <p:spPr>
          <a:xfrm>
            <a:off x="6309360" y="2743200"/>
            <a:ext cx="2377440" cy="365760"/>
          </a:xfrm>
          <a:prstGeom prst="rect">
            <a:avLst/>
          </a:prstGeom>
          <a:noFill/>
          <a:ln/>
        </p:spPr>
        <p:txBody>
          <a:bodyPr wrap="square" rtlCol="0" anchor="ctr"/>
          <a:lstStyle/>
          <a:p>
            <a:pPr indent="0" marL="0">
              <a:buNone/>
            </a:pPr>
            <a:r>
              <a:rPr lang="en-US" sz="900" dirty="0">
                <a:solidFill>
                  <a:srgbClr val="6B7280"/>
                </a:solidFill>
                <a:latin typeface="Arial" pitchFamily="34" charset="0"/>
                <a:ea typeface="Arial" pitchFamily="34" charset="-122"/>
                <a:cs typeface="Arial" pitchFamily="34" charset="-120"/>
              </a:rPr>
              <a:t>Taal optimalisatie</a:t>
            </a:r>
            <a:endParaRPr lang="en-US" sz="900" dirty="0"/>
          </a:p>
        </p:txBody>
      </p:sp>
      <p:sp>
        <p:nvSpPr>
          <p:cNvPr id="36" name="Shape 33"/>
          <p:cNvSpPr/>
          <p:nvPr/>
        </p:nvSpPr>
        <p:spPr>
          <a:xfrm>
            <a:off x="731520" y="3474720"/>
            <a:ext cx="2560320" cy="1051560"/>
          </a:xfrm>
          <a:prstGeom prst="roundRect">
            <a:avLst>
              <a:gd name="adj" fmla="val 6957"/>
            </a:avLst>
          </a:prstGeom>
          <a:solidFill>
            <a:srgbClr val="243B42"/>
          </a:solidFill>
          <a:ln w="25400">
            <a:solidFill>
              <a:srgbClr val="FE3B1F"/>
            </a:solidFill>
            <a:prstDash val="solid"/>
          </a:ln>
        </p:spPr>
      </p:sp>
      <p:sp>
        <p:nvSpPr>
          <p:cNvPr id="37" name="Shape 34"/>
          <p:cNvSpPr/>
          <p:nvPr/>
        </p:nvSpPr>
        <p:spPr>
          <a:xfrm>
            <a:off x="822960" y="3566160"/>
            <a:ext cx="411480" cy="411480"/>
          </a:xfrm>
          <a:prstGeom prst="ellipse">
            <a:avLst/>
          </a:prstGeom>
          <a:solidFill>
            <a:srgbClr val="FE3B1F"/>
          </a:solidFill>
          <a:ln/>
        </p:spPr>
      </p:sp>
      <p:sp>
        <p:nvSpPr>
          <p:cNvPr id="38" name="Text 35"/>
          <p:cNvSpPr/>
          <p:nvPr/>
        </p:nvSpPr>
        <p:spPr>
          <a:xfrm>
            <a:off x="822960" y="3611880"/>
            <a:ext cx="41148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39" name="Text 36"/>
          <p:cNvSpPr/>
          <p:nvPr/>
        </p:nvSpPr>
        <p:spPr>
          <a:xfrm>
            <a:off x="1280160" y="3611880"/>
            <a:ext cx="192024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Visueel</a:t>
            </a:r>
            <a:endParaRPr lang="en-US" sz="1200" dirty="0"/>
          </a:p>
        </p:txBody>
      </p:sp>
      <p:sp>
        <p:nvSpPr>
          <p:cNvPr id="40" name="Text 37"/>
          <p:cNvSpPr/>
          <p:nvPr/>
        </p:nvSpPr>
        <p:spPr>
          <a:xfrm>
            <a:off x="822960" y="4023360"/>
            <a:ext cx="2377440" cy="365760"/>
          </a:xfrm>
          <a:prstGeom prst="rect">
            <a:avLst/>
          </a:prstGeom>
          <a:noFill/>
          <a:ln/>
        </p:spPr>
        <p:txBody>
          <a:bodyPr wrap="square" rtlCol="0" anchor="ctr"/>
          <a:lstStyle/>
          <a:p>
            <a:pPr indent="0" marL="0">
              <a:buNone/>
            </a:pPr>
            <a:r>
              <a:rPr lang="en-US" sz="900" dirty="0">
                <a:solidFill>
                  <a:srgbClr val="6B7280"/>
                </a:solidFill>
                <a:latin typeface="Arial" pitchFamily="34" charset="0"/>
                <a:ea typeface="Arial" pitchFamily="34" charset="-122"/>
                <a:cs typeface="Arial" pitchFamily="34" charset="-120"/>
              </a:rPr>
              <a:t>Afbeeldingen</a:t>
            </a:r>
            <a:endParaRPr lang="en-US" sz="900" dirty="0"/>
          </a:p>
        </p:txBody>
      </p:sp>
      <p:sp>
        <p:nvSpPr>
          <p:cNvPr id="41" name="Shape 38"/>
          <p:cNvSpPr/>
          <p:nvPr/>
        </p:nvSpPr>
        <p:spPr>
          <a:xfrm>
            <a:off x="3474720" y="3474720"/>
            <a:ext cx="2560320" cy="1051560"/>
          </a:xfrm>
          <a:prstGeom prst="roundRect">
            <a:avLst>
              <a:gd name="adj" fmla="val 6957"/>
            </a:avLst>
          </a:prstGeom>
          <a:solidFill>
            <a:srgbClr val="243B42"/>
          </a:solidFill>
          <a:ln w="25400">
            <a:solidFill>
              <a:srgbClr val="FE3B1F"/>
            </a:solidFill>
            <a:prstDash val="solid"/>
          </a:ln>
        </p:spPr>
      </p:sp>
      <p:sp>
        <p:nvSpPr>
          <p:cNvPr id="42" name="Shape 39"/>
          <p:cNvSpPr/>
          <p:nvPr/>
        </p:nvSpPr>
        <p:spPr>
          <a:xfrm>
            <a:off x="3566160" y="3566160"/>
            <a:ext cx="411480" cy="411480"/>
          </a:xfrm>
          <a:prstGeom prst="ellipse">
            <a:avLst/>
          </a:prstGeom>
          <a:solidFill>
            <a:srgbClr val="FE3B1F"/>
          </a:solidFill>
          <a:ln/>
        </p:spPr>
      </p:sp>
      <p:sp>
        <p:nvSpPr>
          <p:cNvPr id="43" name="Text 40"/>
          <p:cNvSpPr/>
          <p:nvPr/>
        </p:nvSpPr>
        <p:spPr>
          <a:xfrm>
            <a:off x="3566160" y="3611880"/>
            <a:ext cx="41148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8</a:t>
            </a:r>
            <a:endParaRPr lang="en-US" sz="1200" dirty="0"/>
          </a:p>
        </p:txBody>
      </p:sp>
      <p:sp>
        <p:nvSpPr>
          <p:cNvPr id="44" name="Text 41"/>
          <p:cNvSpPr/>
          <p:nvPr/>
        </p:nvSpPr>
        <p:spPr>
          <a:xfrm>
            <a:off x="4023360" y="3611880"/>
            <a:ext cx="192024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Audit</a:t>
            </a:r>
            <a:endParaRPr lang="en-US" sz="1200" dirty="0"/>
          </a:p>
        </p:txBody>
      </p:sp>
      <p:sp>
        <p:nvSpPr>
          <p:cNvPr id="45" name="Text 42"/>
          <p:cNvSpPr/>
          <p:nvPr/>
        </p:nvSpPr>
        <p:spPr>
          <a:xfrm>
            <a:off x="3566160" y="4023360"/>
            <a:ext cx="2377440" cy="365760"/>
          </a:xfrm>
          <a:prstGeom prst="rect">
            <a:avLst/>
          </a:prstGeom>
          <a:noFill/>
          <a:ln/>
        </p:spPr>
        <p:txBody>
          <a:bodyPr wrap="square" rtlCol="0" anchor="ctr"/>
          <a:lstStyle/>
          <a:p>
            <a:pPr indent="0" marL="0">
              <a:buNone/>
            </a:pPr>
            <a:r>
              <a:rPr lang="en-US" sz="900" dirty="0">
                <a:solidFill>
                  <a:srgbClr val="6B7280"/>
                </a:solidFill>
                <a:latin typeface="Arial" pitchFamily="34" charset="0"/>
                <a:ea typeface="Arial" pitchFamily="34" charset="-122"/>
                <a:cs typeface="Arial" pitchFamily="34" charset="-120"/>
              </a:rPr>
              <a:t>129+ checks</a:t>
            </a:r>
            <a:endParaRPr lang="en-US" sz="900" dirty="0"/>
          </a:p>
        </p:txBody>
      </p:sp>
      <p:sp>
        <p:nvSpPr>
          <p:cNvPr id="46" name="Shape 43"/>
          <p:cNvSpPr/>
          <p:nvPr/>
        </p:nvSpPr>
        <p:spPr>
          <a:xfrm>
            <a:off x="6217920" y="3474720"/>
            <a:ext cx="2560320" cy="1051560"/>
          </a:xfrm>
          <a:prstGeom prst="roundRect">
            <a:avLst>
              <a:gd name="adj" fmla="val 6957"/>
            </a:avLst>
          </a:prstGeom>
          <a:solidFill>
            <a:srgbClr val="243B42"/>
          </a:solidFill>
          <a:ln w="25400">
            <a:solidFill>
              <a:srgbClr val="FE3B1F"/>
            </a:solidFill>
            <a:prstDash val="solid"/>
          </a:ln>
        </p:spPr>
      </p:sp>
      <p:sp>
        <p:nvSpPr>
          <p:cNvPr id="47" name="Shape 44"/>
          <p:cNvSpPr/>
          <p:nvPr/>
        </p:nvSpPr>
        <p:spPr>
          <a:xfrm>
            <a:off x="6309360" y="3566160"/>
            <a:ext cx="411480" cy="411480"/>
          </a:xfrm>
          <a:prstGeom prst="ellipse">
            <a:avLst/>
          </a:prstGeom>
          <a:solidFill>
            <a:srgbClr val="FE3B1F"/>
          </a:solidFill>
          <a:ln/>
        </p:spPr>
      </p:sp>
      <p:sp>
        <p:nvSpPr>
          <p:cNvPr id="48" name="Text 45"/>
          <p:cNvSpPr/>
          <p:nvPr/>
        </p:nvSpPr>
        <p:spPr>
          <a:xfrm>
            <a:off x="6309360" y="3611880"/>
            <a:ext cx="41148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9</a:t>
            </a:r>
            <a:endParaRPr lang="en-US" sz="1200" dirty="0"/>
          </a:p>
        </p:txBody>
      </p:sp>
      <p:sp>
        <p:nvSpPr>
          <p:cNvPr id="49" name="Text 46"/>
          <p:cNvSpPr/>
          <p:nvPr/>
        </p:nvSpPr>
        <p:spPr>
          <a:xfrm>
            <a:off x="6766560" y="3611880"/>
            <a:ext cx="192024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Schema</a:t>
            </a:r>
            <a:endParaRPr lang="en-US" sz="1200" dirty="0"/>
          </a:p>
        </p:txBody>
      </p:sp>
      <p:sp>
        <p:nvSpPr>
          <p:cNvPr id="50" name="Text 47"/>
          <p:cNvSpPr/>
          <p:nvPr/>
        </p:nvSpPr>
        <p:spPr>
          <a:xfrm>
            <a:off x="6309360" y="4023360"/>
            <a:ext cx="2377440" cy="365760"/>
          </a:xfrm>
          <a:prstGeom prst="rect">
            <a:avLst/>
          </a:prstGeom>
          <a:noFill/>
          <a:ln/>
        </p:spPr>
        <p:txBody>
          <a:bodyPr wrap="square" rtlCol="0" anchor="ctr"/>
          <a:lstStyle/>
          <a:p>
            <a:pPr indent="0" marL="0">
              <a:buNone/>
            </a:pPr>
            <a:r>
              <a:rPr lang="en-US" sz="900" dirty="0">
                <a:solidFill>
                  <a:srgbClr val="6B7280"/>
                </a:solidFill>
                <a:latin typeface="Arial" pitchFamily="34" charset="0"/>
                <a:ea typeface="Arial" pitchFamily="34" charset="-122"/>
                <a:cs typeface="Arial" pitchFamily="34" charset="-120"/>
              </a:rPr>
              <a:t>Structured data</a:t>
            </a:r>
            <a:endParaRPr lang="en-US" sz="900" dirty="0"/>
          </a:p>
        </p:txBody>
      </p:sp>
      <p:sp>
        <p:nvSpPr>
          <p:cNvPr id="51" name="Text 48"/>
          <p:cNvSpPr/>
          <p:nvPr/>
        </p:nvSpPr>
        <p:spPr>
          <a:xfrm>
            <a:off x="457200" y="4572000"/>
            <a:ext cx="8229600" cy="274320"/>
          </a:xfrm>
          <a:prstGeom prst="rect">
            <a:avLst/>
          </a:prstGeom>
          <a:noFill/>
          <a:ln/>
        </p:spPr>
        <p:txBody>
          <a:bodyPr wrap="square" rtlCol="0" anchor="ctr"/>
          <a:lstStyle/>
          <a:p>
            <a:pPr algn="ctr" indent="0" marL="0">
              <a:buNone/>
            </a:pPr>
            <a:r>
              <a:rPr lang="en-US" sz="1100" b="1" dirty="0">
                <a:solidFill>
                  <a:srgbClr val="10B981"/>
                </a:solidFill>
                <a:latin typeface="Arial" pitchFamily="34" charset="0"/>
                <a:ea typeface="Arial" pitchFamily="34" charset="-122"/>
                <a:cs typeface="Arial" pitchFamily="34" charset="-120"/>
              </a:rPr>
              <a:t>Resultaat: Professionele, SEO-geoptimaliseerde content zonder AI-"smaak"</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www\cost-of-retreival-reducer\tmp\presentation\slides\brightlot-dark.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137160" cy="5143500"/>
          </a:xfrm>
          <a:prstGeom prst="rect">
            <a:avLst/>
          </a:prstGeom>
          <a:solidFill>
            <a:srgbClr val="FE3B1F"/>
          </a:solidFill>
          <a:ln/>
        </p:spPr>
      </p:sp>
      <p:sp>
        <p:nvSpPr>
          <p:cNvPr id="4" name="Text 1"/>
          <p:cNvSpPr/>
          <p:nvPr/>
        </p:nvSpPr>
        <p:spPr>
          <a:xfrm>
            <a:off x="457200" y="182880"/>
            <a:ext cx="8229600" cy="365760"/>
          </a:xfrm>
          <a:prstGeom prst="rect">
            <a:avLst/>
          </a:prstGeom>
          <a:noFill/>
          <a:ln/>
        </p:spPr>
        <p:txBody>
          <a:bodyPr wrap="square" rtlCol="0" anchor="ctr"/>
          <a:lstStyle/>
          <a:p>
            <a:pPr algn="ctr" indent="0" marL="0">
              <a:buNone/>
            </a:pPr>
            <a:r>
              <a:rPr lang="en-US" sz="2400" b="1" dirty="0">
                <a:solidFill>
                  <a:srgbClr val="FE3B1F"/>
                </a:solidFill>
                <a:latin typeface="Arial" pitchFamily="34" charset="0"/>
                <a:ea typeface="Arial" pitchFamily="34" charset="-122"/>
                <a:cs typeface="Arial" pitchFamily="34" charset="-120"/>
              </a:rPr>
              <a:t>NAADLOZE INTEGRATIE</a:t>
            </a:r>
            <a:endParaRPr lang="en-US" sz="2400" dirty="0"/>
          </a:p>
        </p:txBody>
      </p:sp>
      <p:sp>
        <p:nvSpPr>
          <p:cNvPr id="5" name="Text 2"/>
          <p:cNvSpPr/>
          <p:nvPr/>
        </p:nvSpPr>
        <p:spPr>
          <a:xfrm>
            <a:off x="457200" y="502920"/>
            <a:ext cx="8229600" cy="274320"/>
          </a:xfrm>
          <a:prstGeom prst="rect">
            <a:avLst/>
          </a:prstGeom>
          <a:noFill/>
          <a:ln/>
        </p:spPr>
        <p:txBody>
          <a:bodyPr wrap="square" rtlCol="0" anchor="ctr"/>
          <a:lstStyle/>
          <a:p>
            <a:pPr algn="ctr" indent="0" marL="0">
              <a:buNone/>
            </a:pPr>
            <a:r>
              <a:rPr lang="en-US" sz="1200" dirty="0">
                <a:solidFill>
                  <a:srgbClr val="6B7280"/>
                </a:solidFill>
                <a:latin typeface="Arial" pitchFamily="34" charset="0"/>
                <a:ea typeface="Arial" pitchFamily="34" charset="-122"/>
                <a:cs typeface="Arial" pitchFamily="34" charset="-120"/>
              </a:rPr>
              <a:t>Past in jullie bestaande workflow</a:t>
            </a:r>
            <a:endParaRPr lang="en-US" sz="1200" dirty="0"/>
          </a:p>
        </p:txBody>
      </p:sp>
      <p:sp>
        <p:nvSpPr>
          <p:cNvPr id="6" name="Shape 3"/>
          <p:cNvSpPr/>
          <p:nvPr/>
        </p:nvSpPr>
        <p:spPr>
          <a:xfrm>
            <a:off x="457200" y="914400"/>
            <a:ext cx="2011680" cy="1645920"/>
          </a:xfrm>
          <a:prstGeom prst="roundRect">
            <a:avLst>
              <a:gd name="adj" fmla="val 5556"/>
            </a:avLst>
          </a:prstGeom>
          <a:solidFill>
            <a:srgbClr val="243B42"/>
          </a:solidFill>
          <a:ln w="12700">
            <a:solidFill>
              <a:srgbClr val="FE3B1F"/>
            </a:solidFill>
            <a:prstDash val="solid"/>
          </a:ln>
        </p:spPr>
      </p:sp>
      <p:sp>
        <p:nvSpPr>
          <p:cNvPr id="7" name="Text 4"/>
          <p:cNvSpPr/>
          <p:nvPr/>
        </p:nvSpPr>
        <p:spPr>
          <a:xfrm>
            <a:off x="457200" y="1097280"/>
            <a:ext cx="2011680" cy="365760"/>
          </a:xfrm>
          <a:prstGeom prst="rect">
            <a:avLst/>
          </a:prstGeom>
          <a:noFill/>
          <a:ln/>
        </p:spPr>
        <p:txBody>
          <a:bodyPr wrap="square" rtlCol="0" anchor="ctr"/>
          <a:lstStyle/>
          <a:p>
            <a:pPr algn="ctr" indent="0" marL="0">
              <a:buNone/>
            </a:pPr>
            <a:r>
              <a:rPr lang="en-US" sz="1300" b="1" dirty="0">
                <a:solidFill>
                  <a:srgbClr val="FE3B1F"/>
                </a:solidFill>
                <a:latin typeface="Arial" pitchFamily="34" charset="0"/>
                <a:ea typeface="Arial" pitchFamily="34" charset="-122"/>
                <a:cs typeface="Arial" pitchFamily="34" charset="-120"/>
              </a:rPr>
              <a:t>WordPress</a:t>
            </a:r>
            <a:endParaRPr lang="en-US" sz="1300" dirty="0"/>
          </a:p>
        </p:txBody>
      </p:sp>
      <p:sp>
        <p:nvSpPr>
          <p:cNvPr id="8" name="Text 5"/>
          <p:cNvSpPr/>
          <p:nvPr/>
        </p:nvSpPr>
        <p:spPr>
          <a:xfrm>
            <a:off x="548640" y="1554480"/>
            <a:ext cx="1828800" cy="731520"/>
          </a:xfrm>
          <a:prstGeom prst="rect">
            <a:avLst/>
          </a:prstGeom>
          <a:noFill/>
          <a:ln/>
        </p:spPr>
        <p:txBody>
          <a:bodyPr wrap="square"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Direct publiceren naar projectsites</a:t>
            </a:r>
            <a:endParaRPr lang="en-US" sz="900" dirty="0"/>
          </a:p>
        </p:txBody>
      </p:sp>
      <p:sp>
        <p:nvSpPr>
          <p:cNvPr id="9" name="Shape 6"/>
          <p:cNvSpPr/>
          <p:nvPr/>
        </p:nvSpPr>
        <p:spPr>
          <a:xfrm>
            <a:off x="2651760" y="914400"/>
            <a:ext cx="2011680" cy="1645920"/>
          </a:xfrm>
          <a:prstGeom prst="roundRect">
            <a:avLst>
              <a:gd name="adj" fmla="val 5556"/>
            </a:avLst>
          </a:prstGeom>
          <a:solidFill>
            <a:srgbClr val="243B42"/>
          </a:solidFill>
          <a:ln w="12700">
            <a:solidFill>
              <a:srgbClr val="FE3B1F"/>
            </a:solidFill>
            <a:prstDash val="solid"/>
          </a:ln>
        </p:spPr>
      </p:sp>
      <p:sp>
        <p:nvSpPr>
          <p:cNvPr id="10" name="Text 7"/>
          <p:cNvSpPr/>
          <p:nvPr/>
        </p:nvSpPr>
        <p:spPr>
          <a:xfrm>
            <a:off x="2651760" y="1097280"/>
            <a:ext cx="2011680" cy="365760"/>
          </a:xfrm>
          <a:prstGeom prst="rect">
            <a:avLst/>
          </a:prstGeom>
          <a:noFill/>
          <a:ln/>
        </p:spPr>
        <p:txBody>
          <a:bodyPr wrap="square" rtlCol="0" anchor="ctr"/>
          <a:lstStyle/>
          <a:p>
            <a:pPr algn="ctr" indent="0" marL="0">
              <a:buNone/>
            </a:pPr>
            <a:r>
              <a:rPr lang="en-US" sz="1300" b="1" dirty="0">
                <a:solidFill>
                  <a:srgbClr val="FE3B1F"/>
                </a:solidFill>
                <a:latin typeface="Arial" pitchFamily="34" charset="0"/>
                <a:ea typeface="Arial" pitchFamily="34" charset="-122"/>
                <a:cs typeface="Arial" pitchFamily="34" charset="-120"/>
              </a:rPr>
              <a:t>Multi-AI</a:t>
            </a:r>
            <a:endParaRPr lang="en-US" sz="1300" dirty="0"/>
          </a:p>
        </p:txBody>
      </p:sp>
      <p:sp>
        <p:nvSpPr>
          <p:cNvPr id="11" name="Text 8"/>
          <p:cNvSpPr/>
          <p:nvPr/>
        </p:nvSpPr>
        <p:spPr>
          <a:xfrm>
            <a:off x="2743200" y="1554480"/>
            <a:ext cx="1828800" cy="731520"/>
          </a:xfrm>
          <a:prstGeom prst="rect">
            <a:avLst/>
          </a:prstGeom>
          <a:noFill/>
          <a:ln/>
        </p:spPr>
        <p:txBody>
          <a:bodyPr wrap="square"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OpenAI, Gemini, Claude - kies zelf</a:t>
            </a:r>
            <a:endParaRPr lang="en-US" sz="900" dirty="0"/>
          </a:p>
        </p:txBody>
      </p:sp>
      <p:sp>
        <p:nvSpPr>
          <p:cNvPr id="12" name="Shape 9"/>
          <p:cNvSpPr/>
          <p:nvPr/>
        </p:nvSpPr>
        <p:spPr>
          <a:xfrm>
            <a:off x="4846320" y="914400"/>
            <a:ext cx="2011680" cy="1645920"/>
          </a:xfrm>
          <a:prstGeom prst="roundRect">
            <a:avLst>
              <a:gd name="adj" fmla="val 5556"/>
            </a:avLst>
          </a:prstGeom>
          <a:solidFill>
            <a:srgbClr val="243B42"/>
          </a:solidFill>
          <a:ln w="12700">
            <a:solidFill>
              <a:srgbClr val="FE3B1F"/>
            </a:solidFill>
            <a:prstDash val="solid"/>
          </a:ln>
        </p:spPr>
      </p:sp>
      <p:sp>
        <p:nvSpPr>
          <p:cNvPr id="13" name="Text 10"/>
          <p:cNvSpPr/>
          <p:nvPr/>
        </p:nvSpPr>
        <p:spPr>
          <a:xfrm>
            <a:off x="4846320" y="1097280"/>
            <a:ext cx="2011680" cy="365760"/>
          </a:xfrm>
          <a:prstGeom prst="rect">
            <a:avLst/>
          </a:prstGeom>
          <a:noFill/>
          <a:ln/>
        </p:spPr>
        <p:txBody>
          <a:bodyPr wrap="square" rtlCol="0" anchor="ctr"/>
          <a:lstStyle/>
          <a:p>
            <a:pPr algn="ctr" indent="0" marL="0">
              <a:buNone/>
            </a:pPr>
            <a:r>
              <a:rPr lang="en-US" sz="1300" b="1" dirty="0">
                <a:solidFill>
                  <a:srgbClr val="FE3B1F"/>
                </a:solidFill>
                <a:latin typeface="Arial" pitchFamily="34" charset="0"/>
                <a:ea typeface="Arial" pitchFamily="34" charset="-122"/>
                <a:cs typeface="Arial" pitchFamily="34" charset="-120"/>
              </a:rPr>
              <a:t>Export</a:t>
            </a:r>
            <a:endParaRPr lang="en-US" sz="1300" dirty="0"/>
          </a:p>
        </p:txBody>
      </p:sp>
      <p:sp>
        <p:nvSpPr>
          <p:cNvPr id="14" name="Text 11"/>
          <p:cNvSpPr/>
          <p:nvPr/>
        </p:nvSpPr>
        <p:spPr>
          <a:xfrm>
            <a:off x="4937760" y="1554480"/>
            <a:ext cx="1828800" cy="731520"/>
          </a:xfrm>
          <a:prstGeom prst="rect">
            <a:avLst/>
          </a:prstGeom>
          <a:noFill/>
          <a:ln/>
        </p:spPr>
        <p:txBody>
          <a:bodyPr wrap="square"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HTML, Markdown, of direct naar CMS</a:t>
            </a:r>
            <a:endParaRPr lang="en-US" sz="900" dirty="0"/>
          </a:p>
        </p:txBody>
      </p:sp>
      <p:sp>
        <p:nvSpPr>
          <p:cNvPr id="15" name="Shape 12"/>
          <p:cNvSpPr/>
          <p:nvPr/>
        </p:nvSpPr>
        <p:spPr>
          <a:xfrm>
            <a:off x="7040880" y="914400"/>
            <a:ext cx="2011680" cy="1645920"/>
          </a:xfrm>
          <a:prstGeom prst="roundRect">
            <a:avLst>
              <a:gd name="adj" fmla="val 5556"/>
            </a:avLst>
          </a:prstGeom>
          <a:solidFill>
            <a:srgbClr val="243B42"/>
          </a:solidFill>
          <a:ln w="12700">
            <a:solidFill>
              <a:srgbClr val="FE3B1F"/>
            </a:solidFill>
            <a:prstDash val="solid"/>
          </a:ln>
        </p:spPr>
      </p:sp>
      <p:sp>
        <p:nvSpPr>
          <p:cNvPr id="16" name="Text 13"/>
          <p:cNvSpPr/>
          <p:nvPr/>
        </p:nvSpPr>
        <p:spPr>
          <a:xfrm>
            <a:off x="7040880" y="1097280"/>
            <a:ext cx="2011680" cy="365760"/>
          </a:xfrm>
          <a:prstGeom prst="rect">
            <a:avLst/>
          </a:prstGeom>
          <a:noFill/>
          <a:ln/>
        </p:spPr>
        <p:txBody>
          <a:bodyPr wrap="square" rtlCol="0" anchor="ctr"/>
          <a:lstStyle/>
          <a:p>
            <a:pPr algn="ctr" indent="0" marL="0">
              <a:buNone/>
            </a:pPr>
            <a:r>
              <a:rPr lang="en-US" sz="1300" b="1" dirty="0">
                <a:solidFill>
                  <a:srgbClr val="FE3B1F"/>
                </a:solidFill>
                <a:latin typeface="Arial" pitchFamily="34" charset="0"/>
                <a:ea typeface="Arial" pitchFamily="34" charset="-122"/>
                <a:cs typeface="Arial" pitchFamily="34" charset="-120"/>
              </a:rPr>
              <a:t>Team</a:t>
            </a:r>
            <a:endParaRPr lang="en-US" sz="1300" dirty="0"/>
          </a:p>
        </p:txBody>
      </p:sp>
      <p:sp>
        <p:nvSpPr>
          <p:cNvPr id="17" name="Text 14"/>
          <p:cNvSpPr/>
          <p:nvPr/>
        </p:nvSpPr>
        <p:spPr>
          <a:xfrm>
            <a:off x="7132320" y="1554480"/>
            <a:ext cx="1828800" cy="731520"/>
          </a:xfrm>
          <a:prstGeom prst="rect">
            <a:avLst/>
          </a:prstGeom>
          <a:noFill/>
          <a:ln/>
        </p:spPr>
        <p:txBody>
          <a:bodyPr wrap="square"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Meerdere gebruikers, projecten apart</a:t>
            </a:r>
            <a:endParaRPr lang="en-US" sz="900" dirty="0"/>
          </a:p>
        </p:txBody>
      </p:sp>
      <p:sp>
        <p:nvSpPr>
          <p:cNvPr id="18" name="Text 15"/>
          <p:cNvSpPr/>
          <p:nvPr/>
        </p:nvSpPr>
        <p:spPr>
          <a:xfrm>
            <a:off x="457200" y="2743200"/>
            <a:ext cx="8229600" cy="32004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BRIGHTLOT WORKFLOW</a:t>
            </a:r>
            <a:endParaRPr lang="en-US" sz="1300" dirty="0"/>
          </a:p>
        </p:txBody>
      </p:sp>
      <p:sp>
        <p:nvSpPr>
          <p:cNvPr id="19" name="Shape 16"/>
          <p:cNvSpPr/>
          <p:nvPr/>
        </p:nvSpPr>
        <p:spPr>
          <a:xfrm>
            <a:off x="457200" y="3200400"/>
            <a:ext cx="1600200" cy="640080"/>
          </a:xfrm>
          <a:prstGeom prst="roundRect">
            <a:avLst>
              <a:gd name="adj" fmla="val 8571"/>
            </a:avLst>
          </a:prstGeom>
          <a:solidFill>
            <a:srgbClr val="243B42"/>
          </a:solidFill>
          <a:ln w="12700">
            <a:solidFill>
              <a:srgbClr val="FE3B1F"/>
            </a:solidFill>
            <a:prstDash val="solid"/>
          </a:ln>
        </p:spPr>
      </p:sp>
      <p:sp>
        <p:nvSpPr>
          <p:cNvPr id="20" name="Text 17"/>
          <p:cNvSpPr/>
          <p:nvPr/>
        </p:nvSpPr>
        <p:spPr>
          <a:xfrm>
            <a:off x="457200" y="3310128"/>
            <a:ext cx="1600200" cy="45720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Klant Briefing</a:t>
            </a:r>
            <a:endParaRPr lang="en-US" sz="900" dirty="0"/>
          </a:p>
        </p:txBody>
      </p:sp>
      <p:sp>
        <p:nvSpPr>
          <p:cNvPr id="21" name="Text 18"/>
          <p:cNvSpPr/>
          <p:nvPr/>
        </p:nvSpPr>
        <p:spPr>
          <a:xfrm>
            <a:off x="2011680" y="3246120"/>
            <a:ext cx="274320" cy="457200"/>
          </a:xfrm>
          <a:prstGeom prst="rect">
            <a:avLst/>
          </a:prstGeom>
          <a:noFill/>
          <a:ln/>
        </p:spPr>
        <p:txBody>
          <a:bodyPr wrap="square" rtlCol="0" anchor="ctr"/>
          <a:lstStyle/>
          <a:p>
            <a:pPr indent="0" marL="0">
              <a:buNone/>
            </a:pPr>
            <a:r>
              <a:rPr lang="en-US" sz="1400" dirty="0">
                <a:solidFill>
                  <a:srgbClr val="6B7280"/>
                </a:solidFill>
                <a:latin typeface="Arial" pitchFamily="34" charset="0"/>
                <a:ea typeface="Arial" pitchFamily="34" charset="-122"/>
                <a:cs typeface="Arial" pitchFamily="34" charset="-120"/>
              </a:rPr>
              <a:t>&gt;</a:t>
            </a:r>
            <a:endParaRPr lang="en-US" sz="1400" dirty="0"/>
          </a:p>
        </p:txBody>
      </p:sp>
      <p:sp>
        <p:nvSpPr>
          <p:cNvPr id="22" name="Shape 19"/>
          <p:cNvSpPr/>
          <p:nvPr/>
        </p:nvSpPr>
        <p:spPr>
          <a:xfrm>
            <a:off x="2194560" y="3200400"/>
            <a:ext cx="1600200" cy="640080"/>
          </a:xfrm>
          <a:prstGeom prst="roundRect">
            <a:avLst>
              <a:gd name="adj" fmla="val 8571"/>
            </a:avLst>
          </a:prstGeom>
          <a:solidFill>
            <a:srgbClr val="243B42"/>
          </a:solidFill>
          <a:ln w="12700">
            <a:solidFill>
              <a:srgbClr val="FE3B1F"/>
            </a:solidFill>
            <a:prstDash val="solid"/>
          </a:ln>
        </p:spPr>
      </p:sp>
      <p:sp>
        <p:nvSpPr>
          <p:cNvPr id="23" name="Text 20"/>
          <p:cNvSpPr/>
          <p:nvPr/>
        </p:nvSpPr>
        <p:spPr>
          <a:xfrm>
            <a:off x="2194560" y="3310128"/>
            <a:ext cx="1600200" cy="45720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Strategy Setup</a:t>
            </a:r>
            <a:endParaRPr lang="en-US" sz="900" dirty="0"/>
          </a:p>
        </p:txBody>
      </p:sp>
      <p:sp>
        <p:nvSpPr>
          <p:cNvPr id="24" name="Text 21"/>
          <p:cNvSpPr/>
          <p:nvPr/>
        </p:nvSpPr>
        <p:spPr>
          <a:xfrm>
            <a:off x="3749040" y="3246120"/>
            <a:ext cx="274320" cy="457200"/>
          </a:xfrm>
          <a:prstGeom prst="rect">
            <a:avLst/>
          </a:prstGeom>
          <a:noFill/>
          <a:ln/>
        </p:spPr>
        <p:txBody>
          <a:bodyPr wrap="square" rtlCol="0" anchor="ctr"/>
          <a:lstStyle/>
          <a:p>
            <a:pPr indent="0" marL="0">
              <a:buNone/>
            </a:pPr>
            <a:r>
              <a:rPr lang="en-US" sz="1400" dirty="0">
                <a:solidFill>
                  <a:srgbClr val="6B7280"/>
                </a:solidFill>
                <a:latin typeface="Arial" pitchFamily="34" charset="0"/>
                <a:ea typeface="Arial" pitchFamily="34" charset="-122"/>
                <a:cs typeface="Arial" pitchFamily="34" charset="-120"/>
              </a:rPr>
              <a:t>&gt;</a:t>
            </a:r>
            <a:endParaRPr lang="en-US" sz="1400" dirty="0"/>
          </a:p>
        </p:txBody>
      </p:sp>
      <p:sp>
        <p:nvSpPr>
          <p:cNvPr id="25" name="Shape 22"/>
          <p:cNvSpPr/>
          <p:nvPr/>
        </p:nvSpPr>
        <p:spPr>
          <a:xfrm>
            <a:off x="3931920" y="3200400"/>
            <a:ext cx="1600200" cy="640080"/>
          </a:xfrm>
          <a:prstGeom prst="roundRect">
            <a:avLst>
              <a:gd name="adj" fmla="val 8571"/>
            </a:avLst>
          </a:prstGeom>
          <a:solidFill>
            <a:srgbClr val="FE3B1F"/>
          </a:solidFill>
          <a:ln w="12700">
            <a:solidFill>
              <a:srgbClr val="FE3B1F"/>
            </a:solidFill>
            <a:prstDash val="solid"/>
          </a:ln>
        </p:spPr>
      </p:sp>
      <p:sp>
        <p:nvSpPr>
          <p:cNvPr id="26" name="Text 23"/>
          <p:cNvSpPr/>
          <p:nvPr/>
        </p:nvSpPr>
        <p:spPr>
          <a:xfrm>
            <a:off x="3931920" y="3310128"/>
            <a:ext cx="1600200" cy="45720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Content Generatie</a:t>
            </a:r>
            <a:endParaRPr lang="en-US" sz="900" dirty="0"/>
          </a:p>
        </p:txBody>
      </p:sp>
      <p:sp>
        <p:nvSpPr>
          <p:cNvPr id="27" name="Text 24"/>
          <p:cNvSpPr/>
          <p:nvPr/>
        </p:nvSpPr>
        <p:spPr>
          <a:xfrm>
            <a:off x="5486400" y="3246120"/>
            <a:ext cx="274320" cy="457200"/>
          </a:xfrm>
          <a:prstGeom prst="rect">
            <a:avLst/>
          </a:prstGeom>
          <a:noFill/>
          <a:ln/>
        </p:spPr>
        <p:txBody>
          <a:bodyPr wrap="square" rtlCol="0" anchor="ctr"/>
          <a:lstStyle/>
          <a:p>
            <a:pPr indent="0" marL="0">
              <a:buNone/>
            </a:pPr>
            <a:r>
              <a:rPr lang="en-US" sz="1400" dirty="0">
                <a:solidFill>
                  <a:srgbClr val="6B7280"/>
                </a:solidFill>
                <a:latin typeface="Arial" pitchFamily="34" charset="0"/>
                <a:ea typeface="Arial" pitchFamily="34" charset="-122"/>
                <a:cs typeface="Arial" pitchFamily="34" charset="-120"/>
              </a:rPr>
              <a:t>&gt;</a:t>
            </a:r>
            <a:endParaRPr lang="en-US" sz="1400" dirty="0"/>
          </a:p>
        </p:txBody>
      </p:sp>
      <p:sp>
        <p:nvSpPr>
          <p:cNvPr id="28" name="Shape 25"/>
          <p:cNvSpPr/>
          <p:nvPr/>
        </p:nvSpPr>
        <p:spPr>
          <a:xfrm>
            <a:off x="5669280" y="3200400"/>
            <a:ext cx="1600200" cy="640080"/>
          </a:xfrm>
          <a:prstGeom prst="roundRect">
            <a:avLst>
              <a:gd name="adj" fmla="val 8571"/>
            </a:avLst>
          </a:prstGeom>
          <a:solidFill>
            <a:srgbClr val="243B42"/>
          </a:solidFill>
          <a:ln w="12700">
            <a:solidFill>
              <a:srgbClr val="FE3B1F"/>
            </a:solidFill>
            <a:prstDash val="solid"/>
          </a:ln>
        </p:spPr>
      </p:sp>
      <p:sp>
        <p:nvSpPr>
          <p:cNvPr id="29" name="Text 26"/>
          <p:cNvSpPr/>
          <p:nvPr/>
        </p:nvSpPr>
        <p:spPr>
          <a:xfrm>
            <a:off x="5669280" y="3310128"/>
            <a:ext cx="1600200" cy="45720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Review &amp; Aanpassing</a:t>
            </a:r>
            <a:endParaRPr lang="en-US" sz="900" dirty="0"/>
          </a:p>
        </p:txBody>
      </p:sp>
      <p:sp>
        <p:nvSpPr>
          <p:cNvPr id="30" name="Text 27"/>
          <p:cNvSpPr/>
          <p:nvPr/>
        </p:nvSpPr>
        <p:spPr>
          <a:xfrm>
            <a:off x="7223760" y="3246120"/>
            <a:ext cx="274320" cy="457200"/>
          </a:xfrm>
          <a:prstGeom prst="rect">
            <a:avLst/>
          </a:prstGeom>
          <a:noFill/>
          <a:ln/>
        </p:spPr>
        <p:txBody>
          <a:bodyPr wrap="square" rtlCol="0" anchor="ctr"/>
          <a:lstStyle/>
          <a:p>
            <a:pPr indent="0" marL="0">
              <a:buNone/>
            </a:pPr>
            <a:r>
              <a:rPr lang="en-US" sz="1400" dirty="0">
                <a:solidFill>
                  <a:srgbClr val="6B7280"/>
                </a:solidFill>
                <a:latin typeface="Arial" pitchFamily="34" charset="0"/>
                <a:ea typeface="Arial" pitchFamily="34" charset="-122"/>
                <a:cs typeface="Arial" pitchFamily="34" charset="-120"/>
              </a:rPr>
              <a:t>&gt;</a:t>
            </a:r>
            <a:endParaRPr lang="en-US" sz="1400" dirty="0"/>
          </a:p>
        </p:txBody>
      </p:sp>
      <p:sp>
        <p:nvSpPr>
          <p:cNvPr id="31" name="Shape 28"/>
          <p:cNvSpPr/>
          <p:nvPr/>
        </p:nvSpPr>
        <p:spPr>
          <a:xfrm>
            <a:off x="7406640" y="3200400"/>
            <a:ext cx="1600200" cy="640080"/>
          </a:xfrm>
          <a:prstGeom prst="roundRect">
            <a:avLst>
              <a:gd name="adj" fmla="val 8571"/>
            </a:avLst>
          </a:prstGeom>
          <a:solidFill>
            <a:srgbClr val="243B42"/>
          </a:solidFill>
          <a:ln w="12700">
            <a:solidFill>
              <a:srgbClr val="FE3B1F"/>
            </a:solidFill>
            <a:prstDash val="solid"/>
          </a:ln>
        </p:spPr>
      </p:sp>
      <p:sp>
        <p:nvSpPr>
          <p:cNvPr id="32" name="Text 29"/>
          <p:cNvSpPr/>
          <p:nvPr/>
        </p:nvSpPr>
        <p:spPr>
          <a:xfrm>
            <a:off x="7406640" y="3310128"/>
            <a:ext cx="1600200" cy="45720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Publicatie</a:t>
            </a:r>
            <a:endParaRPr lang="en-US" sz="900" dirty="0"/>
          </a:p>
        </p:txBody>
      </p:sp>
      <p:sp>
        <p:nvSpPr>
          <p:cNvPr id="33" name="Text 30"/>
          <p:cNvSpPr/>
          <p:nvPr/>
        </p:nvSpPr>
        <p:spPr>
          <a:xfrm>
            <a:off x="457200" y="4023360"/>
            <a:ext cx="8229600" cy="274320"/>
          </a:xfrm>
          <a:prstGeom prst="rect">
            <a:avLst/>
          </a:prstGeom>
          <a:noFill/>
          <a:ln/>
        </p:spPr>
        <p:txBody>
          <a:bodyPr wrap="square" rtlCol="0" anchor="ctr"/>
          <a:lstStyle/>
          <a:p>
            <a:pPr algn="ctr" indent="0" marL="0">
              <a:buNone/>
            </a:pPr>
            <a:r>
              <a:rPr lang="en-US" sz="1000" dirty="0">
                <a:solidFill>
                  <a:srgbClr val="FE3B1F"/>
                </a:solidFill>
                <a:latin typeface="Arial" pitchFamily="34" charset="0"/>
                <a:ea typeface="Arial" pitchFamily="34" charset="-122"/>
                <a:cs typeface="Arial" pitchFamily="34" charset="-120"/>
              </a:rPr>
              <a:t>Content Generatie = waar de magie gebeurt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www\cost-of-retreival-reducer\tmp\presentation\slides\brightlot-dark.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137160" cy="5143500"/>
          </a:xfrm>
          <a:prstGeom prst="rect">
            <a:avLst/>
          </a:prstGeom>
          <a:solidFill>
            <a:srgbClr val="FE3B1F"/>
          </a:solidFill>
          <a:ln/>
        </p:spPr>
      </p:sp>
      <p:sp>
        <p:nvSpPr>
          <p:cNvPr id="4" name="Text 1"/>
          <p:cNvSpPr/>
          <p:nvPr/>
        </p:nvSpPr>
        <p:spPr>
          <a:xfrm>
            <a:off x="457200" y="182880"/>
            <a:ext cx="8229600" cy="365760"/>
          </a:xfrm>
          <a:prstGeom prst="rect">
            <a:avLst/>
          </a:prstGeom>
          <a:noFill/>
          <a:ln/>
        </p:spPr>
        <p:txBody>
          <a:bodyPr wrap="square" rtlCol="0" anchor="ctr"/>
          <a:lstStyle/>
          <a:p>
            <a:pPr algn="ctr" indent="0" marL="0">
              <a:buNone/>
            </a:pPr>
            <a:r>
              <a:rPr lang="en-US" sz="2400" b="1" dirty="0">
                <a:solidFill>
                  <a:srgbClr val="FE3B1F"/>
                </a:solidFill>
                <a:latin typeface="Arial" pitchFamily="34" charset="0"/>
                <a:ea typeface="Arial" pitchFamily="34" charset="-122"/>
                <a:cs typeface="Arial" pitchFamily="34" charset="-120"/>
              </a:rPr>
              <a:t>MEETBARE RESULTATEN</a:t>
            </a:r>
            <a:endParaRPr lang="en-US" sz="2400" dirty="0"/>
          </a:p>
        </p:txBody>
      </p:sp>
      <p:sp>
        <p:nvSpPr>
          <p:cNvPr id="5" name="Text 2"/>
          <p:cNvSpPr/>
          <p:nvPr/>
        </p:nvSpPr>
        <p:spPr>
          <a:xfrm>
            <a:off x="457200" y="502920"/>
            <a:ext cx="8229600" cy="274320"/>
          </a:xfrm>
          <a:prstGeom prst="rect">
            <a:avLst/>
          </a:prstGeom>
          <a:noFill/>
          <a:ln/>
        </p:spPr>
        <p:txBody>
          <a:bodyPr wrap="square" rtlCol="0" anchor="ctr"/>
          <a:lstStyle/>
          <a:p>
            <a:pPr algn="ctr" indent="0" marL="0">
              <a:buNone/>
            </a:pPr>
            <a:r>
              <a:rPr lang="en-US" sz="1200" dirty="0">
                <a:solidFill>
                  <a:srgbClr val="6B7280"/>
                </a:solidFill>
                <a:latin typeface="Arial" pitchFamily="34" charset="0"/>
                <a:ea typeface="Arial" pitchFamily="34" charset="-122"/>
                <a:cs typeface="Arial" pitchFamily="34" charset="-120"/>
              </a:rPr>
              <a:t>Rapporteer concrete waarde aan jullie klanten</a:t>
            </a:r>
            <a:endParaRPr lang="en-US" sz="1200" dirty="0"/>
          </a:p>
        </p:txBody>
      </p:sp>
      <p:sp>
        <p:nvSpPr>
          <p:cNvPr id="6" name="Shape 3"/>
          <p:cNvSpPr/>
          <p:nvPr/>
        </p:nvSpPr>
        <p:spPr>
          <a:xfrm>
            <a:off x="457200" y="914400"/>
            <a:ext cx="4023360" cy="1783080"/>
          </a:xfrm>
          <a:prstGeom prst="roundRect">
            <a:avLst>
              <a:gd name="adj" fmla="val 4103"/>
            </a:avLst>
          </a:prstGeom>
          <a:solidFill>
            <a:srgbClr val="243B42"/>
          </a:solidFill>
          <a:ln w="12700">
            <a:solidFill>
              <a:srgbClr val="FE3B1F"/>
            </a:solidFill>
            <a:prstDash val="solid"/>
          </a:ln>
        </p:spPr>
      </p:sp>
      <p:sp>
        <p:nvSpPr>
          <p:cNvPr id="7" name="Text 4"/>
          <p:cNvSpPr/>
          <p:nvPr/>
        </p:nvSpPr>
        <p:spPr>
          <a:xfrm>
            <a:off x="594360" y="1024128"/>
            <a:ext cx="3749040" cy="320040"/>
          </a:xfrm>
          <a:prstGeom prst="rect">
            <a:avLst/>
          </a:prstGeom>
          <a:noFill/>
          <a:ln/>
        </p:spPr>
        <p:txBody>
          <a:bodyPr wrap="square" rtlCol="0" anchor="ctr"/>
          <a:lstStyle/>
          <a:p>
            <a:pPr indent="0" marL="0">
              <a:buNone/>
            </a:pPr>
            <a:r>
              <a:rPr lang="en-US" sz="1200" b="1" dirty="0">
                <a:solidFill>
                  <a:srgbClr val="FE3B1F"/>
                </a:solidFill>
                <a:latin typeface="Arial" pitchFamily="34" charset="0"/>
                <a:ea typeface="Arial" pitchFamily="34" charset="-122"/>
                <a:cs typeface="Arial" pitchFamily="34" charset="-120"/>
              </a:rPr>
              <a:t>Verkeer</a:t>
            </a:r>
            <a:endParaRPr lang="en-US" sz="1200" dirty="0"/>
          </a:p>
        </p:txBody>
      </p:sp>
      <p:sp>
        <p:nvSpPr>
          <p:cNvPr id="8" name="Text 5"/>
          <p:cNvSpPr/>
          <p:nvPr/>
        </p:nvSpPr>
        <p:spPr>
          <a:xfrm>
            <a:off x="640080" y="1371600"/>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Organische bezoekers</a:t>
            </a:r>
            <a:endParaRPr lang="en-US" sz="1000" dirty="0"/>
          </a:p>
        </p:txBody>
      </p:sp>
      <p:sp>
        <p:nvSpPr>
          <p:cNvPr id="9" name="Text 6"/>
          <p:cNvSpPr/>
          <p:nvPr/>
        </p:nvSpPr>
        <p:spPr>
          <a:xfrm>
            <a:off x="640080" y="1691640"/>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Bouncepercentage</a:t>
            </a:r>
            <a:endParaRPr lang="en-US" sz="1000" dirty="0"/>
          </a:p>
        </p:txBody>
      </p:sp>
      <p:sp>
        <p:nvSpPr>
          <p:cNvPr id="10" name="Text 7"/>
          <p:cNvSpPr/>
          <p:nvPr/>
        </p:nvSpPr>
        <p:spPr>
          <a:xfrm>
            <a:off x="640080" y="2011680"/>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Tijd op pagina</a:t>
            </a:r>
            <a:endParaRPr lang="en-US" sz="1000" dirty="0"/>
          </a:p>
        </p:txBody>
      </p:sp>
      <p:sp>
        <p:nvSpPr>
          <p:cNvPr id="11" name="Text 8"/>
          <p:cNvSpPr/>
          <p:nvPr/>
        </p:nvSpPr>
        <p:spPr>
          <a:xfrm>
            <a:off x="640080" y="2331720"/>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Paginas per sessie</a:t>
            </a:r>
            <a:endParaRPr lang="en-US" sz="1000" dirty="0"/>
          </a:p>
        </p:txBody>
      </p:sp>
      <p:sp>
        <p:nvSpPr>
          <p:cNvPr id="12" name="Shape 9"/>
          <p:cNvSpPr/>
          <p:nvPr/>
        </p:nvSpPr>
        <p:spPr>
          <a:xfrm>
            <a:off x="4754880" y="914400"/>
            <a:ext cx="4023360" cy="1783080"/>
          </a:xfrm>
          <a:prstGeom prst="roundRect">
            <a:avLst>
              <a:gd name="adj" fmla="val 4103"/>
            </a:avLst>
          </a:prstGeom>
          <a:solidFill>
            <a:srgbClr val="243B42"/>
          </a:solidFill>
          <a:ln w="12700">
            <a:solidFill>
              <a:srgbClr val="FE3B1F"/>
            </a:solidFill>
            <a:prstDash val="solid"/>
          </a:ln>
        </p:spPr>
      </p:sp>
      <p:sp>
        <p:nvSpPr>
          <p:cNvPr id="13" name="Text 10"/>
          <p:cNvSpPr/>
          <p:nvPr/>
        </p:nvSpPr>
        <p:spPr>
          <a:xfrm>
            <a:off x="4892040" y="1024128"/>
            <a:ext cx="3749040" cy="320040"/>
          </a:xfrm>
          <a:prstGeom prst="rect">
            <a:avLst/>
          </a:prstGeom>
          <a:noFill/>
          <a:ln/>
        </p:spPr>
        <p:txBody>
          <a:bodyPr wrap="square" rtlCol="0" anchor="ctr"/>
          <a:lstStyle/>
          <a:p>
            <a:pPr indent="0" marL="0">
              <a:buNone/>
            </a:pPr>
            <a:r>
              <a:rPr lang="en-US" sz="1200" b="1" dirty="0">
                <a:solidFill>
                  <a:srgbClr val="FE3B1F"/>
                </a:solidFill>
                <a:latin typeface="Arial" pitchFamily="34" charset="0"/>
                <a:ea typeface="Arial" pitchFamily="34" charset="-122"/>
                <a:cs typeface="Arial" pitchFamily="34" charset="-120"/>
              </a:rPr>
              <a:t>Rankings</a:t>
            </a:r>
            <a:endParaRPr lang="en-US" sz="1200" dirty="0"/>
          </a:p>
        </p:txBody>
      </p:sp>
      <p:sp>
        <p:nvSpPr>
          <p:cNvPr id="14" name="Text 11"/>
          <p:cNvSpPr/>
          <p:nvPr/>
        </p:nvSpPr>
        <p:spPr>
          <a:xfrm>
            <a:off x="4937760" y="1371600"/>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Google posities</a:t>
            </a:r>
            <a:endParaRPr lang="en-US" sz="1000" dirty="0"/>
          </a:p>
        </p:txBody>
      </p:sp>
      <p:sp>
        <p:nvSpPr>
          <p:cNvPr id="15" name="Text 12"/>
          <p:cNvSpPr/>
          <p:nvPr/>
        </p:nvSpPr>
        <p:spPr>
          <a:xfrm>
            <a:off x="4937760" y="1691640"/>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Featured snippets</a:t>
            </a:r>
            <a:endParaRPr lang="en-US" sz="1000" dirty="0"/>
          </a:p>
        </p:txBody>
      </p:sp>
      <p:sp>
        <p:nvSpPr>
          <p:cNvPr id="16" name="Text 13"/>
          <p:cNvSpPr/>
          <p:nvPr/>
        </p:nvSpPr>
        <p:spPr>
          <a:xfrm>
            <a:off x="4937760" y="2011680"/>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Zoekwoord dekking</a:t>
            </a:r>
            <a:endParaRPr lang="en-US" sz="1000" dirty="0"/>
          </a:p>
        </p:txBody>
      </p:sp>
      <p:sp>
        <p:nvSpPr>
          <p:cNvPr id="17" name="Text 14"/>
          <p:cNvSpPr/>
          <p:nvPr/>
        </p:nvSpPr>
        <p:spPr>
          <a:xfrm>
            <a:off x="4937760" y="2331720"/>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SERP features</a:t>
            </a:r>
            <a:endParaRPr lang="en-US" sz="1000" dirty="0"/>
          </a:p>
        </p:txBody>
      </p:sp>
      <p:sp>
        <p:nvSpPr>
          <p:cNvPr id="18" name="Shape 15"/>
          <p:cNvSpPr/>
          <p:nvPr/>
        </p:nvSpPr>
        <p:spPr>
          <a:xfrm>
            <a:off x="457200" y="2880360"/>
            <a:ext cx="4023360" cy="1783080"/>
          </a:xfrm>
          <a:prstGeom prst="roundRect">
            <a:avLst>
              <a:gd name="adj" fmla="val 4103"/>
            </a:avLst>
          </a:prstGeom>
          <a:solidFill>
            <a:srgbClr val="243B42"/>
          </a:solidFill>
          <a:ln w="12700">
            <a:solidFill>
              <a:srgbClr val="FE3B1F"/>
            </a:solidFill>
            <a:prstDash val="solid"/>
          </a:ln>
        </p:spPr>
      </p:sp>
      <p:sp>
        <p:nvSpPr>
          <p:cNvPr id="19" name="Text 16"/>
          <p:cNvSpPr/>
          <p:nvPr/>
        </p:nvSpPr>
        <p:spPr>
          <a:xfrm>
            <a:off x="594360" y="2990088"/>
            <a:ext cx="3749040" cy="320040"/>
          </a:xfrm>
          <a:prstGeom prst="rect">
            <a:avLst/>
          </a:prstGeom>
          <a:noFill/>
          <a:ln/>
        </p:spPr>
        <p:txBody>
          <a:bodyPr wrap="square" rtlCol="0" anchor="ctr"/>
          <a:lstStyle/>
          <a:p>
            <a:pPr indent="0" marL="0">
              <a:buNone/>
            </a:pPr>
            <a:r>
              <a:rPr lang="en-US" sz="1200" b="1" dirty="0">
                <a:solidFill>
                  <a:srgbClr val="FE3B1F"/>
                </a:solidFill>
                <a:latin typeface="Arial" pitchFamily="34" charset="0"/>
                <a:ea typeface="Arial" pitchFamily="34" charset="-122"/>
                <a:cs typeface="Arial" pitchFamily="34" charset="-120"/>
              </a:rPr>
              <a:t>Conversie</a:t>
            </a:r>
            <a:endParaRPr lang="en-US" sz="1200" dirty="0"/>
          </a:p>
        </p:txBody>
      </p:sp>
      <p:sp>
        <p:nvSpPr>
          <p:cNvPr id="20" name="Text 17"/>
          <p:cNvSpPr/>
          <p:nvPr/>
        </p:nvSpPr>
        <p:spPr>
          <a:xfrm>
            <a:off x="640080" y="3337560"/>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Lead formulieren</a:t>
            </a:r>
            <a:endParaRPr lang="en-US" sz="1000" dirty="0"/>
          </a:p>
        </p:txBody>
      </p:sp>
      <p:sp>
        <p:nvSpPr>
          <p:cNvPr id="21" name="Text 18"/>
          <p:cNvSpPr/>
          <p:nvPr/>
        </p:nvSpPr>
        <p:spPr>
          <a:xfrm>
            <a:off x="640080" y="3657600"/>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Telefoongesprekken</a:t>
            </a:r>
            <a:endParaRPr lang="en-US" sz="1000" dirty="0"/>
          </a:p>
        </p:txBody>
      </p:sp>
      <p:sp>
        <p:nvSpPr>
          <p:cNvPr id="22" name="Text 19"/>
          <p:cNvSpPr/>
          <p:nvPr/>
        </p:nvSpPr>
        <p:spPr>
          <a:xfrm>
            <a:off x="640080" y="3977640"/>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Brochure downloads</a:t>
            </a:r>
            <a:endParaRPr lang="en-US" sz="1000" dirty="0"/>
          </a:p>
        </p:txBody>
      </p:sp>
      <p:sp>
        <p:nvSpPr>
          <p:cNvPr id="23" name="Text 20"/>
          <p:cNvSpPr/>
          <p:nvPr/>
        </p:nvSpPr>
        <p:spPr>
          <a:xfrm>
            <a:off x="640080" y="4297680"/>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Bezichtigingen</a:t>
            </a:r>
            <a:endParaRPr lang="en-US" sz="1000" dirty="0"/>
          </a:p>
        </p:txBody>
      </p:sp>
      <p:sp>
        <p:nvSpPr>
          <p:cNvPr id="24" name="Shape 21"/>
          <p:cNvSpPr/>
          <p:nvPr/>
        </p:nvSpPr>
        <p:spPr>
          <a:xfrm>
            <a:off x="4754880" y="2880360"/>
            <a:ext cx="4023360" cy="1783080"/>
          </a:xfrm>
          <a:prstGeom prst="roundRect">
            <a:avLst>
              <a:gd name="adj" fmla="val 4103"/>
            </a:avLst>
          </a:prstGeom>
          <a:solidFill>
            <a:srgbClr val="243B42"/>
          </a:solidFill>
          <a:ln w="12700">
            <a:solidFill>
              <a:srgbClr val="FE3B1F"/>
            </a:solidFill>
            <a:prstDash val="solid"/>
          </a:ln>
        </p:spPr>
      </p:sp>
      <p:sp>
        <p:nvSpPr>
          <p:cNvPr id="25" name="Text 22"/>
          <p:cNvSpPr/>
          <p:nvPr/>
        </p:nvSpPr>
        <p:spPr>
          <a:xfrm>
            <a:off x="4892040" y="2990088"/>
            <a:ext cx="3749040" cy="320040"/>
          </a:xfrm>
          <a:prstGeom prst="rect">
            <a:avLst/>
          </a:prstGeom>
          <a:noFill/>
          <a:ln/>
        </p:spPr>
        <p:txBody>
          <a:bodyPr wrap="square" rtlCol="0" anchor="ctr"/>
          <a:lstStyle/>
          <a:p>
            <a:pPr indent="0" marL="0">
              <a:buNone/>
            </a:pPr>
            <a:r>
              <a:rPr lang="en-US" sz="1200" b="1" dirty="0">
                <a:solidFill>
                  <a:srgbClr val="FE3B1F"/>
                </a:solidFill>
                <a:latin typeface="Arial" pitchFamily="34" charset="0"/>
                <a:ea typeface="Arial" pitchFamily="34" charset="-122"/>
                <a:cs typeface="Arial" pitchFamily="34" charset="-120"/>
              </a:rPr>
              <a:t>Content</a:t>
            </a:r>
            <a:endParaRPr lang="en-US" sz="1200" dirty="0"/>
          </a:p>
        </p:txBody>
      </p:sp>
      <p:sp>
        <p:nvSpPr>
          <p:cNvPr id="26" name="Text 23"/>
          <p:cNvSpPr/>
          <p:nvPr/>
        </p:nvSpPr>
        <p:spPr>
          <a:xfrm>
            <a:off x="4937760" y="3337560"/>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Kwaliteitsscore</a:t>
            </a:r>
            <a:endParaRPr lang="en-US" sz="1000" dirty="0"/>
          </a:p>
        </p:txBody>
      </p:sp>
      <p:sp>
        <p:nvSpPr>
          <p:cNvPr id="27" name="Text 24"/>
          <p:cNvSpPr/>
          <p:nvPr/>
        </p:nvSpPr>
        <p:spPr>
          <a:xfrm>
            <a:off x="4937760" y="3657600"/>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SEO score</a:t>
            </a:r>
            <a:endParaRPr lang="en-US" sz="1000" dirty="0"/>
          </a:p>
        </p:txBody>
      </p:sp>
      <p:sp>
        <p:nvSpPr>
          <p:cNvPr id="28" name="Text 25"/>
          <p:cNvSpPr/>
          <p:nvPr/>
        </p:nvSpPr>
        <p:spPr>
          <a:xfrm>
            <a:off x="4937760" y="3977640"/>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Leesbaarheid</a:t>
            </a:r>
            <a:endParaRPr lang="en-US" sz="1000" dirty="0"/>
          </a:p>
        </p:txBody>
      </p:sp>
      <p:sp>
        <p:nvSpPr>
          <p:cNvPr id="29" name="Text 26"/>
          <p:cNvSpPr/>
          <p:nvPr/>
        </p:nvSpPr>
        <p:spPr>
          <a:xfrm>
            <a:off x="4937760" y="4297680"/>
            <a:ext cx="3657600" cy="27432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Engagement</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www\cost-of-retreival-reducer\tmp\presentation\slides\brightlot-dark.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137160" cy="5143500"/>
          </a:xfrm>
          <a:prstGeom prst="rect">
            <a:avLst/>
          </a:prstGeom>
          <a:solidFill>
            <a:srgbClr val="FE3B1F"/>
          </a:solidFill>
          <a:ln/>
        </p:spPr>
      </p:sp>
      <p:sp>
        <p:nvSpPr>
          <p:cNvPr id="4" name="Text 1"/>
          <p:cNvSpPr/>
          <p:nvPr/>
        </p:nvSpPr>
        <p:spPr>
          <a:xfrm>
            <a:off x="457200" y="182880"/>
            <a:ext cx="8229600" cy="365760"/>
          </a:xfrm>
          <a:prstGeom prst="rect">
            <a:avLst/>
          </a:prstGeom>
          <a:noFill/>
          <a:ln/>
        </p:spPr>
        <p:txBody>
          <a:bodyPr wrap="square" rtlCol="0" anchor="ctr"/>
          <a:lstStyle/>
          <a:p>
            <a:pPr algn="ctr" indent="0" marL="0">
              <a:buNone/>
            </a:pPr>
            <a:r>
              <a:rPr lang="en-US" sz="2400" b="1" dirty="0">
                <a:solidFill>
                  <a:srgbClr val="FE3B1F"/>
                </a:solidFill>
                <a:latin typeface="Arial" pitchFamily="34" charset="0"/>
                <a:ea typeface="Arial" pitchFamily="34" charset="-122"/>
                <a:cs typeface="Arial" pitchFamily="34" charset="-120"/>
              </a:rPr>
              <a:t>VOORBEELD: THE PULSE AMSTERDAM</a:t>
            </a:r>
            <a:endParaRPr lang="en-US" sz="2400" dirty="0"/>
          </a:p>
        </p:txBody>
      </p:sp>
      <p:sp>
        <p:nvSpPr>
          <p:cNvPr id="5" name="Text 2"/>
          <p:cNvSpPr/>
          <p:nvPr/>
        </p:nvSpPr>
        <p:spPr>
          <a:xfrm>
            <a:off x="457200" y="502920"/>
            <a:ext cx="8229600" cy="274320"/>
          </a:xfrm>
          <a:prstGeom prst="rect">
            <a:avLst/>
          </a:prstGeom>
          <a:noFill/>
          <a:ln/>
        </p:spPr>
        <p:txBody>
          <a:bodyPr wrap="square" rtlCol="0" anchor="ctr"/>
          <a:lstStyle/>
          <a:p>
            <a:pPr algn="ctr" indent="0" marL="0">
              <a:buNone/>
            </a:pPr>
            <a:r>
              <a:rPr lang="en-US" sz="1200" dirty="0">
                <a:solidFill>
                  <a:srgbClr val="6B7280"/>
                </a:solidFill>
                <a:latin typeface="Arial" pitchFamily="34" charset="0"/>
                <a:ea typeface="Arial" pitchFamily="34" charset="-122"/>
                <a:cs typeface="Arial" pitchFamily="34" charset="-120"/>
              </a:rPr>
              <a:t>Hoe Holistic SEO Workbench dit project zou ondersteunen</a:t>
            </a:r>
            <a:endParaRPr lang="en-US" sz="1200" dirty="0"/>
          </a:p>
        </p:txBody>
      </p:sp>
      <p:sp>
        <p:nvSpPr>
          <p:cNvPr id="6" name="Shape 3"/>
          <p:cNvSpPr/>
          <p:nvPr/>
        </p:nvSpPr>
        <p:spPr>
          <a:xfrm>
            <a:off x="365760" y="914400"/>
            <a:ext cx="4114800" cy="2926080"/>
          </a:xfrm>
          <a:prstGeom prst="roundRect">
            <a:avLst>
              <a:gd name="adj" fmla="val 3125"/>
            </a:avLst>
          </a:prstGeom>
          <a:solidFill>
            <a:srgbClr val="243B42"/>
          </a:solidFill>
          <a:ln/>
        </p:spPr>
      </p:sp>
      <p:sp>
        <p:nvSpPr>
          <p:cNvPr id="7" name="Text 4"/>
          <p:cNvSpPr/>
          <p:nvPr/>
        </p:nvSpPr>
        <p:spPr>
          <a:xfrm>
            <a:off x="548640" y="1051560"/>
            <a:ext cx="3749040" cy="320040"/>
          </a:xfrm>
          <a:prstGeom prst="rect">
            <a:avLst/>
          </a:prstGeom>
          <a:noFill/>
          <a:ln/>
        </p:spPr>
        <p:txBody>
          <a:bodyPr wrap="square" rtlCol="0" anchor="ctr"/>
          <a:lstStyle/>
          <a:p>
            <a:pPr indent="0" marL="0">
              <a:buNone/>
            </a:pPr>
            <a:r>
              <a:rPr lang="en-US" sz="1200" b="1" dirty="0">
                <a:solidFill>
                  <a:srgbClr val="6B7280"/>
                </a:solidFill>
                <a:latin typeface="Arial" pitchFamily="34" charset="0"/>
                <a:ea typeface="Arial" pitchFamily="34" charset="-122"/>
                <a:cs typeface="Arial" pitchFamily="34" charset="-120"/>
              </a:rPr>
              <a:t>TRADITIONELE AANPAK</a:t>
            </a:r>
            <a:endParaRPr lang="en-US" sz="1200" dirty="0"/>
          </a:p>
        </p:txBody>
      </p:sp>
      <p:sp>
        <p:nvSpPr>
          <p:cNvPr id="8" name="Text 5"/>
          <p:cNvSpPr/>
          <p:nvPr/>
        </p:nvSpPr>
        <p:spPr>
          <a:xfrm>
            <a:off x="548640" y="1463040"/>
            <a:ext cx="2286000" cy="32004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Content creatie</a:t>
            </a:r>
            <a:endParaRPr lang="en-US" sz="1000" dirty="0"/>
          </a:p>
        </p:txBody>
      </p:sp>
      <p:sp>
        <p:nvSpPr>
          <p:cNvPr id="9" name="Text 6"/>
          <p:cNvSpPr/>
          <p:nvPr/>
        </p:nvSpPr>
        <p:spPr>
          <a:xfrm>
            <a:off x="2834640" y="1463040"/>
            <a:ext cx="1188720" cy="320040"/>
          </a:xfrm>
          <a:prstGeom prst="rect">
            <a:avLst/>
          </a:prstGeom>
          <a:noFill/>
          <a:ln/>
        </p:spPr>
        <p:txBody>
          <a:bodyPr wrap="square" rtlCol="0" anchor="ctr"/>
          <a:lstStyle/>
          <a:p>
            <a:pPr algn="r" indent="0" marL="0">
              <a:buNone/>
            </a:pPr>
            <a:r>
              <a:rPr lang="en-US" sz="1000" dirty="0">
                <a:solidFill>
                  <a:srgbClr val="FFFFFF"/>
                </a:solidFill>
                <a:latin typeface="Arial" pitchFamily="34" charset="0"/>
                <a:ea typeface="Arial" pitchFamily="34" charset="-122"/>
                <a:cs typeface="Arial" pitchFamily="34" charset="-120"/>
              </a:rPr>
              <a:t>40+ uur</a:t>
            </a:r>
            <a:endParaRPr lang="en-US" sz="1000" dirty="0"/>
          </a:p>
        </p:txBody>
      </p:sp>
      <p:sp>
        <p:nvSpPr>
          <p:cNvPr id="10" name="Text 7"/>
          <p:cNvSpPr/>
          <p:nvPr/>
        </p:nvSpPr>
        <p:spPr>
          <a:xfrm>
            <a:off x="548640" y="1874520"/>
            <a:ext cx="2286000" cy="32004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SEO onderzoek</a:t>
            </a:r>
            <a:endParaRPr lang="en-US" sz="1000" dirty="0"/>
          </a:p>
        </p:txBody>
      </p:sp>
      <p:sp>
        <p:nvSpPr>
          <p:cNvPr id="11" name="Text 8"/>
          <p:cNvSpPr/>
          <p:nvPr/>
        </p:nvSpPr>
        <p:spPr>
          <a:xfrm>
            <a:off x="2834640" y="1874520"/>
            <a:ext cx="1188720" cy="320040"/>
          </a:xfrm>
          <a:prstGeom prst="rect">
            <a:avLst/>
          </a:prstGeom>
          <a:noFill/>
          <a:ln/>
        </p:spPr>
        <p:txBody>
          <a:bodyPr wrap="square" rtlCol="0" anchor="ctr"/>
          <a:lstStyle/>
          <a:p>
            <a:pPr algn="r" indent="0" marL="0">
              <a:buNone/>
            </a:pPr>
            <a:r>
              <a:rPr lang="en-US" sz="1000" dirty="0">
                <a:solidFill>
                  <a:srgbClr val="FFFFFF"/>
                </a:solidFill>
                <a:latin typeface="Arial" pitchFamily="34" charset="0"/>
                <a:ea typeface="Arial" pitchFamily="34" charset="-122"/>
                <a:cs typeface="Arial" pitchFamily="34" charset="-120"/>
              </a:rPr>
              <a:t>8 uur</a:t>
            </a:r>
            <a:endParaRPr lang="en-US" sz="1000" dirty="0"/>
          </a:p>
        </p:txBody>
      </p:sp>
      <p:sp>
        <p:nvSpPr>
          <p:cNvPr id="12" name="Text 9"/>
          <p:cNvSpPr/>
          <p:nvPr/>
        </p:nvSpPr>
        <p:spPr>
          <a:xfrm>
            <a:off x="548640" y="2286000"/>
            <a:ext cx="2286000" cy="32004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Copywriting</a:t>
            </a:r>
            <a:endParaRPr lang="en-US" sz="1000" dirty="0"/>
          </a:p>
        </p:txBody>
      </p:sp>
      <p:sp>
        <p:nvSpPr>
          <p:cNvPr id="13" name="Text 10"/>
          <p:cNvSpPr/>
          <p:nvPr/>
        </p:nvSpPr>
        <p:spPr>
          <a:xfrm>
            <a:off x="2834640" y="2286000"/>
            <a:ext cx="1188720" cy="320040"/>
          </a:xfrm>
          <a:prstGeom prst="rect">
            <a:avLst/>
          </a:prstGeom>
          <a:noFill/>
          <a:ln/>
        </p:spPr>
        <p:txBody>
          <a:bodyPr wrap="square" rtlCol="0" anchor="ctr"/>
          <a:lstStyle/>
          <a:p>
            <a:pPr algn="r" indent="0" marL="0">
              <a:buNone/>
            </a:pPr>
            <a:r>
              <a:rPr lang="en-US" sz="1000" dirty="0">
                <a:solidFill>
                  <a:srgbClr val="FFFFFF"/>
                </a:solidFill>
                <a:latin typeface="Arial" pitchFamily="34" charset="0"/>
                <a:ea typeface="Arial" pitchFamily="34" charset="-122"/>
                <a:cs typeface="Arial" pitchFamily="34" charset="-120"/>
              </a:rPr>
              <a:t>20 uur</a:t>
            </a:r>
            <a:endParaRPr lang="en-US" sz="1000" dirty="0"/>
          </a:p>
        </p:txBody>
      </p:sp>
      <p:sp>
        <p:nvSpPr>
          <p:cNvPr id="14" name="Text 11"/>
          <p:cNvSpPr/>
          <p:nvPr/>
        </p:nvSpPr>
        <p:spPr>
          <a:xfrm>
            <a:off x="548640" y="2697480"/>
            <a:ext cx="2286000" cy="32004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Optimalisatie</a:t>
            </a:r>
            <a:endParaRPr lang="en-US" sz="1000" dirty="0"/>
          </a:p>
        </p:txBody>
      </p:sp>
      <p:sp>
        <p:nvSpPr>
          <p:cNvPr id="15" name="Text 12"/>
          <p:cNvSpPr/>
          <p:nvPr/>
        </p:nvSpPr>
        <p:spPr>
          <a:xfrm>
            <a:off x="2834640" y="2697480"/>
            <a:ext cx="1188720" cy="320040"/>
          </a:xfrm>
          <a:prstGeom prst="rect">
            <a:avLst/>
          </a:prstGeom>
          <a:noFill/>
          <a:ln/>
        </p:spPr>
        <p:txBody>
          <a:bodyPr wrap="square" rtlCol="0" anchor="ctr"/>
          <a:lstStyle/>
          <a:p>
            <a:pPr algn="r" indent="0" marL="0">
              <a:buNone/>
            </a:pPr>
            <a:r>
              <a:rPr lang="en-US" sz="1000" dirty="0">
                <a:solidFill>
                  <a:srgbClr val="FFFFFF"/>
                </a:solidFill>
                <a:latin typeface="Arial" pitchFamily="34" charset="0"/>
                <a:ea typeface="Arial" pitchFamily="34" charset="-122"/>
                <a:cs typeface="Arial" pitchFamily="34" charset="-120"/>
              </a:rPr>
              <a:t>12 uur</a:t>
            </a:r>
            <a:endParaRPr lang="en-US" sz="1000" dirty="0"/>
          </a:p>
        </p:txBody>
      </p:sp>
      <p:sp>
        <p:nvSpPr>
          <p:cNvPr id="16" name="Text 13"/>
          <p:cNvSpPr/>
          <p:nvPr/>
        </p:nvSpPr>
        <p:spPr>
          <a:xfrm>
            <a:off x="548640" y="3108960"/>
            <a:ext cx="2286000" cy="32004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Totaal</a:t>
            </a:r>
            <a:endParaRPr lang="en-US" sz="1000" dirty="0"/>
          </a:p>
        </p:txBody>
      </p:sp>
      <p:sp>
        <p:nvSpPr>
          <p:cNvPr id="17" name="Text 14"/>
          <p:cNvSpPr/>
          <p:nvPr/>
        </p:nvSpPr>
        <p:spPr>
          <a:xfrm>
            <a:off x="2834640" y="3108960"/>
            <a:ext cx="1188720" cy="320040"/>
          </a:xfrm>
          <a:prstGeom prst="rect">
            <a:avLst/>
          </a:prstGeom>
          <a:noFill/>
          <a:ln/>
        </p:spPr>
        <p:txBody>
          <a:bodyPr wrap="square" rtlCol="0" anchor="ctr"/>
          <a:lstStyle/>
          <a:p>
            <a:pPr algn="r" indent="0" marL="0">
              <a:buNone/>
            </a:pPr>
            <a:r>
              <a:rPr lang="en-US" sz="1000" b="1" dirty="0">
                <a:solidFill>
                  <a:srgbClr val="FE3B1F"/>
                </a:solidFill>
                <a:latin typeface="Arial" pitchFamily="34" charset="0"/>
                <a:ea typeface="Arial" pitchFamily="34" charset="-122"/>
                <a:cs typeface="Arial" pitchFamily="34" charset="-120"/>
              </a:rPr>
              <a:t>80+ uur</a:t>
            </a:r>
            <a:endParaRPr lang="en-US" sz="1000" dirty="0"/>
          </a:p>
        </p:txBody>
      </p:sp>
      <p:sp>
        <p:nvSpPr>
          <p:cNvPr id="18" name="Shape 15"/>
          <p:cNvSpPr/>
          <p:nvPr/>
        </p:nvSpPr>
        <p:spPr>
          <a:xfrm>
            <a:off x="4663440" y="914400"/>
            <a:ext cx="4114800" cy="2926080"/>
          </a:xfrm>
          <a:prstGeom prst="roundRect">
            <a:avLst>
              <a:gd name="adj" fmla="val 3125"/>
            </a:avLst>
          </a:prstGeom>
          <a:solidFill>
            <a:srgbClr val="FE3B1F"/>
          </a:solidFill>
          <a:ln/>
        </p:spPr>
      </p:sp>
      <p:sp>
        <p:nvSpPr>
          <p:cNvPr id="19" name="Text 16"/>
          <p:cNvSpPr/>
          <p:nvPr/>
        </p:nvSpPr>
        <p:spPr>
          <a:xfrm>
            <a:off x="4846320" y="1051560"/>
            <a:ext cx="374904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MET HOLISTIC SEO WORKBENCH</a:t>
            </a:r>
            <a:endParaRPr lang="en-US" sz="1200" dirty="0"/>
          </a:p>
        </p:txBody>
      </p:sp>
      <p:sp>
        <p:nvSpPr>
          <p:cNvPr id="20" name="Text 17"/>
          <p:cNvSpPr/>
          <p:nvPr/>
        </p:nvSpPr>
        <p:spPr>
          <a:xfrm>
            <a:off x="4846320" y="1463040"/>
            <a:ext cx="2286000" cy="320040"/>
          </a:xfrm>
          <a:prstGeom prst="rect">
            <a:avLst/>
          </a:prstGeom>
          <a:noFill/>
          <a:ln/>
        </p:spPr>
        <p:txBody>
          <a:bodyPr wrap="square" rtlCol="0" anchor="ctr"/>
          <a:lstStyle/>
          <a:p>
            <a:pPr indent="0" marL="0">
              <a:buNone/>
            </a:pPr>
            <a:r>
              <a:rPr lang="en-US" sz="1000" dirty="0">
                <a:solidFill>
                  <a:srgbClr val="FFE0DC"/>
                </a:solidFill>
                <a:latin typeface="Arial" pitchFamily="34" charset="0"/>
                <a:ea typeface="Arial" pitchFamily="34" charset="-122"/>
                <a:cs typeface="Arial" pitchFamily="34" charset="-120"/>
              </a:rPr>
              <a:t>Setup &amp; briefing</a:t>
            </a:r>
            <a:endParaRPr lang="en-US" sz="1000" dirty="0"/>
          </a:p>
        </p:txBody>
      </p:sp>
      <p:sp>
        <p:nvSpPr>
          <p:cNvPr id="21" name="Text 18"/>
          <p:cNvSpPr/>
          <p:nvPr/>
        </p:nvSpPr>
        <p:spPr>
          <a:xfrm>
            <a:off x="7132320" y="1463040"/>
            <a:ext cx="1188720" cy="320040"/>
          </a:xfrm>
          <a:prstGeom prst="rect">
            <a:avLst/>
          </a:prstGeom>
          <a:noFill/>
          <a:ln/>
        </p:spPr>
        <p:txBody>
          <a:bodyPr wrap="square" rtlCol="0" anchor="ctr"/>
          <a:lstStyle/>
          <a:p>
            <a:pPr algn="r" indent="0" marL="0">
              <a:buNone/>
            </a:pPr>
            <a:r>
              <a:rPr lang="en-US" sz="1000" dirty="0">
                <a:solidFill>
                  <a:srgbClr val="FFFFFF"/>
                </a:solidFill>
                <a:latin typeface="Arial" pitchFamily="34" charset="0"/>
                <a:ea typeface="Arial" pitchFamily="34" charset="-122"/>
                <a:cs typeface="Arial" pitchFamily="34" charset="-120"/>
              </a:rPr>
              <a:t>2 uur</a:t>
            </a:r>
            <a:endParaRPr lang="en-US" sz="1000" dirty="0"/>
          </a:p>
        </p:txBody>
      </p:sp>
      <p:sp>
        <p:nvSpPr>
          <p:cNvPr id="22" name="Text 19"/>
          <p:cNvSpPr/>
          <p:nvPr/>
        </p:nvSpPr>
        <p:spPr>
          <a:xfrm>
            <a:off x="4846320" y="1874520"/>
            <a:ext cx="2286000" cy="320040"/>
          </a:xfrm>
          <a:prstGeom prst="rect">
            <a:avLst/>
          </a:prstGeom>
          <a:noFill/>
          <a:ln/>
        </p:spPr>
        <p:txBody>
          <a:bodyPr wrap="square" rtlCol="0" anchor="ctr"/>
          <a:lstStyle/>
          <a:p>
            <a:pPr indent="0" marL="0">
              <a:buNone/>
            </a:pPr>
            <a:r>
              <a:rPr lang="en-US" sz="1000" dirty="0">
                <a:solidFill>
                  <a:srgbClr val="FFE0DC"/>
                </a:solidFill>
                <a:latin typeface="Arial" pitchFamily="34" charset="0"/>
                <a:ea typeface="Arial" pitchFamily="34" charset="-122"/>
                <a:cs typeface="Arial" pitchFamily="34" charset="-120"/>
              </a:rPr>
              <a:t>AI content generatie</a:t>
            </a:r>
            <a:endParaRPr lang="en-US" sz="1000" dirty="0"/>
          </a:p>
        </p:txBody>
      </p:sp>
      <p:sp>
        <p:nvSpPr>
          <p:cNvPr id="23" name="Text 20"/>
          <p:cNvSpPr/>
          <p:nvPr/>
        </p:nvSpPr>
        <p:spPr>
          <a:xfrm>
            <a:off x="7132320" y="1874520"/>
            <a:ext cx="1188720" cy="320040"/>
          </a:xfrm>
          <a:prstGeom prst="rect">
            <a:avLst/>
          </a:prstGeom>
          <a:noFill/>
          <a:ln/>
        </p:spPr>
        <p:txBody>
          <a:bodyPr wrap="square" rtlCol="0" anchor="ctr"/>
          <a:lstStyle/>
          <a:p>
            <a:pPr algn="r" indent="0" marL="0">
              <a:buNone/>
            </a:pPr>
            <a:r>
              <a:rPr lang="en-US" sz="1000" dirty="0">
                <a:solidFill>
                  <a:srgbClr val="FFFFFF"/>
                </a:solidFill>
                <a:latin typeface="Arial" pitchFamily="34" charset="0"/>
                <a:ea typeface="Arial" pitchFamily="34" charset="-122"/>
                <a:cs typeface="Arial" pitchFamily="34" charset="-120"/>
              </a:rPr>
              <a:t>4 uur</a:t>
            </a:r>
            <a:endParaRPr lang="en-US" sz="1000" dirty="0"/>
          </a:p>
        </p:txBody>
      </p:sp>
      <p:sp>
        <p:nvSpPr>
          <p:cNvPr id="24" name="Text 21"/>
          <p:cNvSpPr/>
          <p:nvPr/>
        </p:nvSpPr>
        <p:spPr>
          <a:xfrm>
            <a:off x="4846320" y="2286000"/>
            <a:ext cx="2286000" cy="320040"/>
          </a:xfrm>
          <a:prstGeom prst="rect">
            <a:avLst/>
          </a:prstGeom>
          <a:noFill/>
          <a:ln/>
        </p:spPr>
        <p:txBody>
          <a:bodyPr wrap="square" rtlCol="0" anchor="ctr"/>
          <a:lstStyle/>
          <a:p>
            <a:pPr indent="0" marL="0">
              <a:buNone/>
            </a:pPr>
            <a:r>
              <a:rPr lang="en-US" sz="1000" dirty="0">
                <a:solidFill>
                  <a:srgbClr val="FFE0DC"/>
                </a:solidFill>
                <a:latin typeface="Arial" pitchFamily="34" charset="0"/>
                <a:ea typeface="Arial" pitchFamily="34" charset="-122"/>
                <a:cs typeface="Arial" pitchFamily="34" charset="-120"/>
              </a:rPr>
              <a:t>Review &amp; editing</a:t>
            </a:r>
            <a:endParaRPr lang="en-US" sz="1000" dirty="0"/>
          </a:p>
        </p:txBody>
      </p:sp>
      <p:sp>
        <p:nvSpPr>
          <p:cNvPr id="25" name="Text 22"/>
          <p:cNvSpPr/>
          <p:nvPr/>
        </p:nvSpPr>
        <p:spPr>
          <a:xfrm>
            <a:off x="7132320" y="2286000"/>
            <a:ext cx="1188720" cy="320040"/>
          </a:xfrm>
          <a:prstGeom prst="rect">
            <a:avLst/>
          </a:prstGeom>
          <a:noFill/>
          <a:ln/>
        </p:spPr>
        <p:txBody>
          <a:bodyPr wrap="square" rtlCol="0" anchor="ctr"/>
          <a:lstStyle/>
          <a:p>
            <a:pPr algn="r" indent="0" marL="0">
              <a:buNone/>
            </a:pPr>
            <a:r>
              <a:rPr lang="en-US" sz="1000" dirty="0">
                <a:solidFill>
                  <a:srgbClr val="FFFFFF"/>
                </a:solidFill>
                <a:latin typeface="Arial" pitchFamily="34" charset="0"/>
                <a:ea typeface="Arial" pitchFamily="34" charset="-122"/>
                <a:cs typeface="Arial" pitchFamily="34" charset="-120"/>
              </a:rPr>
              <a:t>6 uur</a:t>
            </a:r>
            <a:endParaRPr lang="en-US" sz="1000" dirty="0"/>
          </a:p>
        </p:txBody>
      </p:sp>
      <p:sp>
        <p:nvSpPr>
          <p:cNvPr id="26" name="Text 23"/>
          <p:cNvSpPr/>
          <p:nvPr/>
        </p:nvSpPr>
        <p:spPr>
          <a:xfrm>
            <a:off x="4846320" y="2697480"/>
            <a:ext cx="2286000" cy="320040"/>
          </a:xfrm>
          <a:prstGeom prst="rect">
            <a:avLst/>
          </a:prstGeom>
          <a:noFill/>
          <a:ln/>
        </p:spPr>
        <p:txBody>
          <a:bodyPr wrap="square" rtlCol="0" anchor="ctr"/>
          <a:lstStyle/>
          <a:p>
            <a:pPr indent="0" marL="0">
              <a:buNone/>
            </a:pPr>
            <a:r>
              <a:rPr lang="en-US" sz="1000" dirty="0">
                <a:solidFill>
                  <a:srgbClr val="FFE0DC"/>
                </a:solidFill>
                <a:latin typeface="Arial" pitchFamily="34" charset="0"/>
                <a:ea typeface="Arial" pitchFamily="34" charset="-122"/>
                <a:cs typeface="Arial" pitchFamily="34" charset="-120"/>
              </a:rPr>
              <a:t>Publicatie</a:t>
            </a:r>
            <a:endParaRPr lang="en-US" sz="1000" dirty="0"/>
          </a:p>
        </p:txBody>
      </p:sp>
      <p:sp>
        <p:nvSpPr>
          <p:cNvPr id="27" name="Text 24"/>
          <p:cNvSpPr/>
          <p:nvPr/>
        </p:nvSpPr>
        <p:spPr>
          <a:xfrm>
            <a:off x="7132320" y="2697480"/>
            <a:ext cx="1188720" cy="320040"/>
          </a:xfrm>
          <a:prstGeom prst="rect">
            <a:avLst/>
          </a:prstGeom>
          <a:noFill/>
          <a:ln/>
        </p:spPr>
        <p:txBody>
          <a:bodyPr wrap="square" rtlCol="0" anchor="ctr"/>
          <a:lstStyle/>
          <a:p>
            <a:pPr algn="r" indent="0" marL="0">
              <a:buNone/>
            </a:pPr>
            <a:r>
              <a:rPr lang="en-US" sz="1000" dirty="0">
                <a:solidFill>
                  <a:srgbClr val="FFFFFF"/>
                </a:solidFill>
                <a:latin typeface="Arial" pitchFamily="34" charset="0"/>
                <a:ea typeface="Arial" pitchFamily="34" charset="-122"/>
                <a:cs typeface="Arial" pitchFamily="34" charset="-120"/>
              </a:rPr>
              <a:t>1 uur</a:t>
            </a:r>
            <a:endParaRPr lang="en-US" sz="1000" dirty="0"/>
          </a:p>
        </p:txBody>
      </p:sp>
      <p:sp>
        <p:nvSpPr>
          <p:cNvPr id="28" name="Text 25"/>
          <p:cNvSpPr/>
          <p:nvPr/>
        </p:nvSpPr>
        <p:spPr>
          <a:xfrm>
            <a:off x="4846320" y="3108960"/>
            <a:ext cx="2286000" cy="32004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Totaal</a:t>
            </a:r>
            <a:endParaRPr lang="en-US" sz="1000" dirty="0"/>
          </a:p>
        </p:txBody>
      </p:sp>
      <p:sp>
        <p:nvSpPr>
          <p:cNvPr id="29" name="Text 26"/>
          <p:cNvSpPr/>
          <p:nvPr/>
        </p:nvSpPr>
        <p:spPr>
          <a:xfrm>
            <a:off x="7132320" y="3108960"/>
            <a:ext cx="1188720" cy="320040"/>
          </a:xfrm>
          <a:prstGeom prst="rect">
            <a:avLst/>
          </a:prstGeom>
          <a:noFill/>
          <a:ln/>
        </p:spPr>
        <p:txBody>
          <a:bodyPr wrap="square"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13 uur</a:t>
            </a:r>
            <a:endParaRPr lang="en-US" sz="1000" dirty="0"/>
          </a:p>
        </p:txBody>
      </p:sp>
      <p:sp>
        <p:nvSpPr>
          <p:cNvPr id="30" name="Shape 27"/>
          <p:cNvSpPr/>
          <p:nvPr/>
        </p:nvSpPr>
        <p:spPr>
          <a:xfrm>
            <a:off x="2286000" y="4023360"/>
            <a:ext cx="4572000" cy="822960"/>
          </a:xfrm>
          <a:prstGeom prst="roundRect">
            <a:avLst>
              <a:gd name="adj" fmla="val 11111"/>
            </a:avLst>
          </a:prstGeom>
          <a:solidFill>
            <a:srgbClr val="10B981"/>
          </a:solidFill>
          <a:ln/>
        </p:spPr>
      </p:sp>
      <p:sp>
        <p:nvSpPr>
          <p:cNvPr id="31" name="Text 28"/>
          <p:cNvSpPr/>
          <p:nvPr/>
        </p:nvSpPr>
        <p:spPr>
          <a:xfrm>
            <a:off x="2286000" y="4160520"/>
            <a:ext cx="4572000" cy="5486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BESPARING: 67 UUR PER PROJECT (84%)</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www\cost-of-retreival-reducer\tmp\presentation\slides\brightlot-light.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57200" y="274320"/>
            <a:ext cx="8229600" cy="457200"/>
          </a:xfrm>
          <a:prstGeom prst="rect">
            <a:avLst/>
          </a:prstGeom>
          <a:noFill/>
          <a:ln/>
        </p:spPr>
        <p:txBody>
          <a:bodyPr wrap="square" rtlCol="0" anchor="ctr"/>
          <a:lstStyle/>
          <a:p>
            <a:pPr algn="ctr" indent="0" marL="0">
              <a:buNone/>
            </a:pPr>
            <a:r>
              <a:rPr lang="en-US" sz="2800" b="1" dirty="0">
                <a:solidFill>
                  <a:srgbClr val="131415"/>
                </a:solidFill>
                <a:latin typeface="Arial" pitchFamily="34" charset="0"/>
                <a:ea typeface="Arial" pitchFamily="34" charset="-122"/>
                <a:cs typeface="Arial" pitchFamily="34" charset="-120"/>
              </a:rPr>
              <a:t>AAN DE SLAG</a:t>
            </a:r>
            <a:endParaRPr lang="en-US" sz="2800" dirty="0"/>
          </a:p>
        </p:txBody>
      </p:sp>
      <p:sp>
        <p:nvSpPr>
          <p:cNvPr id="4" name="Shape 1"/>
          <p:cNvSpPr/>
          <p:nvPr/>
        </p:nvSpPr>
        <p:spPr>
          <a:xfrm>
            <a:off x="1234440" y="914400"/>
            <a:ext cx="457200" cy="457200"/>
          </a:xfrm>
          <a:prstGeom prst="ellipse">
            <a:avLst/>
          </a:prstGeom>
          <a:solidFill>
            <a:srgbClr val="FE3B1F"/>
          </a:solidFill>
          <a:ln/>
        </p:spPr>
      </p:sp>
      <p:sp>
        <p:nvSpPr>
          <p:cNvPr id="5" name="Text 2"/>
          <p:cNvSpPr/>
          <p:nvPr/>
        </p:nvSpPr>
        <p:spPr>
          <a:xfrm>
            <a:off x="1234440" y="978408"/>
            <a:ext cx="45720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Shape 3"/>
          <p:cNvSpPr/>
          <p:nvPr/>
        </p:nvSpPr>
        <p:spPr>
          <a:xfrm>
            <a:off x="457200" y="1508760"/>
            <a:ext cx="2011680" cy="1828800"/>
          </a:xfrm>
          <a:prstGeom prst="roundRect">
            <a:avLst>
              <a:gd name="adj" fmla="val 5000"/>
            </a:avLst>
          </a:prstGeom>
          <a:solidFill>
            <a:srgbClr val="FFFFFF"/>
          </a:solidFill>
          <a:ln/>
          <a:effectLst>
            <a:outerShdw sx="100000" sy="100000" kx="0" ky="0" algn="bl" rotWithShape="0" blurRad="76200" dist="38100" dir="2700000">
              <a:srgbClr val="000000">
                <a:alpha val="10000"/>
              </a:srgbClr>
            </a:outerShdw>
          </a:effectLst>
        </p:spPr>
      </p:sp>
      <p:sp>
        <p:nvSpPr>
          <p:cNvPr id="7" name="Text 4"/>
          <p:cNvSpPr/>
          <p:nvPr/>
        </p:nvSpPr>
        <p:spPr>
          <a:xfrm>
            <a:off x="548640" y="1645920"/>
            <a:ext cx="1828800" cy="365760"/>
          </a:xfrm>
          <a:prstGeom prst="rect">
            <a:avLst/>
          </a:prstGeom>
          <a:noFill/>
          <a:ln/>
        </p:spPr>
        <p:txBody>
          <a:bodyPr wrap="square" rtlCol="0" anchor="ctr"/>
          <a:lstStyle/>
          <a:p>
            <a:pPr algn="ctr" indent="0" marL="0">
              <a:buNone/>
            </a:pPr>
            <a:r>
              <a:rPr lang="en-US" sz="1200" b="1" dirty="0">
                <a:solidFill>
                  <a:srgbClr val="131415"/>
                </a:solidFill>
                <a:latin typeface="Arial" pitchFamily="34" charset="0"/>
                <a:ea typeface="Arial" pitchFamily="34" charset="-122"/>
                <a:cs typeface="Arial" pitchFamily="34" charset="-120"/>
              </a:rPr>
              <a:t>Onboarding</a:t>
            </a:r>
            <a:endParaRPr lang="en-US" sz="1200" dirty="0"/>
          </a:p>
        </p:txBody>
      </p:sp>
      <p:sp>
        <p:nvSpPr>
          <p:cNvPr id="8" name="Text 5"/>
          <p:cNvSpPr/>
          <p:nvPr/>
        </p:nvSpPr>
        <p:spPr>
          <a:xfrm>
            <a:off x="548640" y="2011680"/>
            <a:ext cx="1828800" cy="731520"/>
          </a:xfrm>
          <a:prstGeom prst="rect">
            <a:avLst/>
          </a:prstGeom>
          <a:noFill/>
          <a:ln/>
        </p:spPr>
        <p:txBody>
          <a:bodyPr wrap="square" rtlCol="0" anchor="ctr"/>
          <a:lstStyle/>
          <a:p>
            <a:pPr algn="ctr" indent="0" marL="0">
              <a:buNone/>
            </a:pPr>
            <a:r>
              <a:rPr lang="en-US" sz="900" dirty="0">
                <a:solidFill>
                  <a:srgbClr val="6B7280"/>
                </a:solidFill>
                <a:latin typeface="Arial" pitchFamily="34" charset="0"/>
                <a:ea typeface="Arial" pitchFamily="34" charset="-122"/>
                <a:cs typeface="Arial" pitchFamily="34" charset="-120"/>
              </a:rPr>
              <a:t>Setup van jullie eerste project met begeleiding</a:t>
            </a:r>
            <a:endParaRPr lang="en-US" sz="900" dirty="0"/>
          </a:p>
        </p:txBody>
      </p:sp>
      <p:sp>
        <p:nvSpPr>
          <p:cNvPr id="9" name="Text 6"/>
          <p:cNvSpPr/>
          <p:nvPr/>
        </p:nvSpPr>
        <p:spPr>
          <a:xfrm>
            <a:off x="548640" y="2834640"/>
            <a:ext cx="1828800" cy="320040"/>
          </a:xfrm>
          <a:prstGeom prst="rect">
            <a:avLst/>
          </a:prstGeom>
          <a:noFill/>
          <a:ln/>
        </p:spPr>
        <p:txBody>
          <a:bodyPr wrap="square" rtlCol="0" anchor="ctr"/>
          <a:lstStyle/>
          <a:p>
            <a:pPr algn="ctr" indent="0" marL="0">
              <a:buNone/>
            </a:pPr>
            <a:r>
              <a:rPr lang="en-US" sz="1000" b="1" dirty="0">
                <a:solidFill>
                  <a:srgbClr val="FE3B1F"/>
                </a:solidFill>
                <a:latin typeface="Arial" pitchFamily="34" charset="0"/>
                <a:ea typeface="Arial" pitchFamily="34" charset="-122"/>
                <a:cs typeface="Arial" pitchFamily="34" charset="-120"/>
              </a:rPr>
              <a:t>1 dag</a:t>
            </a:r>
            <a:endParaRPr lang="en-US" sz="1000" dirty="0"/>
          </a:p>
        </p:txBody>
      </p:sp>
      <p:sp>
        <p:nvSpPr>
          <p:cNvPr id="10" name="Shape 7"/>
          <p:cNvSpPr/>
          <p:nvPr/>
        </p:nvSpPr>
        <p:spPr>
          <a:xfrm>
            <a:off x="3429000" y="914400"/>
            <a:ext cx="457200" cy="457200"/>
          </a:xfrm>
          <a:prstGeom prst="ellipse">
            <a:avLst/>
          </a:prstGeom>
          <a:solidFill>
            <a:srgbClr val="FE3B1F"/>
          </a:solidFill>
          <a:ln/>
        </p:spPr>
      </p:sp>
      <p:sp>
        <p:nvSpPr>
          <p:cNvPr id="11" name="Text 8"/>
          <p:cNvSpPr/>
          <p:nvPr/>
        </p:nvSpPr>
        <p:spPr>
          <a:xfrm>
            <a:off x="3429000" y="978408"/>
            <a:ext cx="45720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Shape 9"/>
          <p:cNvSpPr/>
          <p:nvPr/>
        </p:nvSpPr>
        <p:spPr>
          <a:xfrm>
            <a:off x="2651760" y="1508760"/>
            <a:ext cx="2011680" cy="1828800"/>
          </a:xfrm>
          <a:prstGeom prst="roundRect">
            <a:avLst>
              <a:gd name="adj" fmla="val 5000"/>
            </a:avLst>
          </a:prstGeom>
          <a:solidFill>
            <a:srgbClr val="FFFFFF"/>
          </a:solidFill>
          <a:ln/>
          <a:effectLst>
            <a:outerShdw sx="100000" sy="100000" kx="0" ky="0" algn="bl" rotWithShape="0" blurRad="76200" dist="38100" dir="2700000">
              <a:srgbClr val="000000">
                <a:alpha val="10000"/>
              </a:srgbClr>
            </a:outerShdw>
          </a:effectLst>
        </p:spPr>
      </p:sp>
      <p:sp>
        <p:nvSpPr>
          <p:cNvPr id="13" name="Text 10"/>
          <p:cNvSpPr/>
          <p:nvPr/>
        </p:nvSpPr>
        <p:spPr>
          <a:xfrm>
            <a:off x="2743200" y="1645920"/>
            <a:ext cx="1828800" cy="365760"/>
          </a:xfrm>
          <a:prstGeom prst="rect">
            <a:avLst/>
          </a:prstGeom>
          <a:noFill/>
          <a:ln/>
        </p:spPr>
        <p:txBody>
          <a:bodyPr wrap="square" rtlCol="0" anchor="ctr"/>
          <a:lstStyle/>
          <a:p>
            <a:pPr algn="ctr" indent="0" marL="0">
              <a:buNone/>
            </a:pPr>
            <a:r>
              <a:rPr lang="en-US" sz="1200" b="1" dirty="0">
                <a:solidFill>
                  <a:srgbClr val="131415"/>
                </a:solidFill>
                <a:latin typeface="Arial" pitchFamily="34" charset="0"/>
                <a:ea typeface="Arial" pitchFamily="34" charset="-122"/>
                <a:cs typeface="Arial" pitchFamily="34" charset="-120"/>
              </a:rPr>
              <a:t>Training</a:t>
            </a:r>
            <a:endParaRPr lang="en-US" sz="1200" dirty="0"/>
          </a:p>
        </p:txBody>
      </p:sp>
      <p:sp>
        <p:nvSpPr>
          <p:cNvPr id="14" name="Text 11"/>
          <p:cNvSpPr/>
          <p:nvPr/>
        </p:nvSpPr>
        <p:spPr>
          <a:xfrm>
            <a:off x="2743200" y="2011680"/>
            <a:ext cx="1828800" cy="731520"/>
          </a:xfrm>
          <a:prstGeom prst="rect">
            <a:avLst/>
          </a:prstGeom>
          <a:noFill/>
          <a:ln/>
        </p:spPr>
        <p:txBody>
          <a:bodyPr wrap="square" rtlCol="0" anchor="ctr"/>
          <a:lstStyle/>
          <a:p>
            <a:pPr algn="ctr" indent="0" marL="0">
              <a:buNone/>
            </a:pPr>
            <a:r>
              <a:rPr lang="en-US" sz="900" dirty="0">
                <a:solidFill>
                  <a:srgbClr val="6B7280"/>
                </a:solidFill>
                <a:latin typeface="Arial" pitchFamily="34" charset="0"/>
                <a:ea typeface="Arial" pitchFamily="34" charset="-122"/>
                <a:cs typeface="Arial" pitchFamily="34" charset="-120"/>
              </a:rPr>
              <a:t>Team leren werken met het platform</a:t>
            </a:r>
            <a:endParaRPr lang="en-US" sz="900" dirty="0"/>
          </a:p>
        </p:txBody>
      </p:sp>
      <p:sp>
        <p:nvSpPr>
          <p:cNvPr id="15" name="Text 12"/>
          <p:cNvSpPr/>
          <p:nvPr/>
        </p:nvSpPr>
        <p:spPr>
          <a:xfrm>
            <a:off x="2743200" y="2834640"/>
            <a:ext cx="1828800" cy="320040"/>
          </a:xfrm>
          <a:prstGeom prst="rect">
            <a:avLst/>
          </a:prstGeom>
          <a:noFill/>
          <a:ln/>
        </p:spPr>
        <p:txBody>
          <a:bodyPr wrap="square" rtlCol="0" anchor="ctr"/>
          <a:lstStyle/>
          <a:p>
            <a:pPr algn="ctr" indent="0" marL="0">
              <a:buNone/>
            </a:pPr>
            <a:r>
              <a:rPr lang="en-US" sz="1000" b="1" dirty="0">
                <a:solidFill>
                  <a:srgbClr val="FE3B1F"/>
                </a:solidFill>
                <a:latin typeface="Arial" pitchFamily="34" charset="0"/>
                <a:ea typeface="Arial" pitchFamily="34" charset="-122"/>
                <a:cs typeface="Arial" pitchFamily="34" charset="-120"/>
              </a:rPr>
              <a:t>2 uur</a:t>
            </a:r>
            <a:endParaRPr lang="en-US" sz="1000" dirty="0"/>
          </a:p>
        </p:txBody>
      </p:sp>
      <p:sp>
        <p:nvSpPr>
          <p:cNvPr id="16" name="Shape 13"/>
          <p:cNvSpPr/>
          <p:nvPr/>
        </p:nvSpPr>
        <p:spPr>
          <a:xfrm>
            <a:off x="5623560" y="914400"/>
            <a:ext cx="457200" cy="457200"/>
          </a:xfrm>
          <a:prstGeom prst="ellipse">
            <a:avLst/>
          </a:prstGeom>
          <a:solidFill>
            <a:srgbClr val="FE3B1F"/>
          </a:solidFill>
          <a:ln/>
        </p:spPr>
      </p:sp>
      <p:sp>
        <p:nvSpPr>
          <p:cNvPr id="17" name="Text 14"/>
          <p:cNvSpPr/>
          <p:nvPr/>
        </p:nvSpPr>
        <p:spPr>
          <a:xfrm>
            <a:off x="5623560" y="978408"/>
            <a:ext cx="45720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8" name="Shape 15"/>
          <p:cNvSpPr/>
          <p:nvPr/>
        </p:nvSpPr>
        <p:spPr>
          <a:xfrm>
            <a:off x="4846320" y="1508760"/>
            <a:ext cx="2011680" cy="1828800"/>
          </a:xfrm>
          <a:prstGeom prst="roundRect">
            <a:avLst>
              <a:gd name="adj" fmla="val 5000"/>
            </a:avLst>
          </a:prstGeom>
          <a:solidFill>
            <a:srgbClr val="FFFFFF"/>
          </a:solidFill>
          <a:ln/>
          <a:effectLst>
            <a:outerShdw sx="100000" sy="100000" kx="0" ky="0" algn="bl" rotWithShape="0" blurRad="76200" dist="38100" dir="2700000">
              <a:srgbClr val="000000">
                <a:alpha val="10000"/>
              </a:srgbClr>
            </a:outerShdw>
          </a:effectLst>
        </p:spPr>
      </p:sp>
      <p:sp>
        <p:nvSpPr>
          <p:cNvPr id="19" name="Text 16"/>
          <p:cNvSpPr/>
          <p:nvPr/>
        </p:nvSpPr>
        <p:spPr>
          <a:xfrm>
            <a:off x="4937760" y="1645920"/>
            <a:ext cx="1828800" cy="365760"/>
          </a:xfrm>
          <a:prstGeom prst="rect">
            <a:avLst/>
          </a:prstGeom>
          <a:noFill/>
          <a:ln/>
        </p:spPr>
        <p:txBody>
          <a:bodyPr wrap="square" rtlCol="0" anchor="ctr"/>
          <a:lstStyle/>
          <a:p>
            <a:pPr algn="ctr" indent="0" marL="0">
              <a:buNone/>
            </a:pPr>
            <a:r>
              <a:rPr lang="en-US" sz="1200" b="1" dirty="0">
                <a:solidFill>
                  <a:srgbClr val="131415"/>
                </a:solidFill>
                <a:latin typeface="Arial" pitchFamily="34" charset="0"/>
                <a:ea typeface="Arial" pitchFamily="34" charset="-122"/>
                <a:cs typeface="Arial" pitchFamily="34" charset="-120"/>
              </a:rPr>
              <a:t>Eerste Project</a:t>
            </a:r>
            <a:endParaRPr lang="en-US" sz="1200" dirty="0"/>
          </a:p>
        </p:txBody>
      </p:sp>
      <p:sp>
        <p:nvSpPr>
          <p:cNvPr id="20" name="Text 17"/>
          <p:cNvSpPr/>
          <p:nvPr/>
        </p:nvSpPr>
        <p:spPr>
          <a:xfrm>
            <a:off x="4937760" y="2011680"/>
            <a:ext cx="1828800" cy="731520"/>
          </a:xfrm>
          <a:prstGeom prst="rect">
            <a:avLst/>
          </a:prstGeom>
          <a:noFill/>
          <a:ln/>
        </p:spPr>
        <p:txBody>
          <a:bodyPr wrap="square" rtlCol="0" anchor="ctr"/>
          <a:lstStyle/>
          <a:p>
            <a:pPr algn="ctr" indent="0" marL="0">
              <a:buNone/>
            </a:pPr>
            <a:r>
              <a:rPr lang="en-US" sz="900" dirty="0">
                <a:solidFill>
                  <a:srgbClr val="6B7280"/>
                </a:solidFill>
                <a:latin typeface="Arial" pitchFamily="34" charset="0"/>
                <a:ea typeface="Arial" pitchFamily="34" charset="-122"/>
                <a:cs typeface="Arial" pitchFamily="34" charset="-120"/>
              </a:rPr>
              <a:t>Content genereren voor een live klant</a:t>
            </a:r>
            <a:endParaRPr lang="en-US" sz="900" dirty="0"/>
          </a:p>
        </p:txBody>
      </p:sp>
      <p:sp>
        <p:nvSpPr>
          <p:cNvPr id="21" name="Text 18"/>
          <p:cNvSpPr/>
          <p:nvPr/>
        </p:nvSpPr>
        <p:spPr>
          <a:xfrm>
            <a:off x="4937760" y="2834640"/>
            <a:ext cx="1828800" cy="320040"/>
          </a:xfrm>
          <a:prstGeom prst="rect">
            <a:avLst/>
          </a:prstGeom>
          <a:noFill/>
          <a:ln/>
        </p:spPr>
        <p:txBody>
          <a:bodyPr wrap="square" rtlCol="0" anchor="ctr"/>
          <a:lstStyle/>
          <a:p>
            <a:pPr algn="ctr" indent="0" marL="0">
              <a:buNone/>
            </a:pPr>
            <a:r>
              <a:rPr lang="en-US" sz="1000" b="1" dirty="0">
                <a:solidFill>
                  <a:srgbClr val="FE3B1F"/>
                </a:solidFill>
                <a:latin typeface="Arial" pitchFamily="34" charset="0"/>
                <a:ea typeface="Arial" pitchFamily="34" charset="-122"/>
                <a:cs typeface="Arial" pitchFamily="34" charset="-120"/>
              </a:rPr>
              <a:t>1 week</a:t>
            </a:r>
            <a:endParaRPr lang="en-US" sz="1000" dirty="0"/>
          </a:p>
        </p:txBody>
      </p:sp>
      <p:sp>
        <p:nvSpPr>
          <p:cNvPr id="22" name="Shape 19"/>
          <p:cNvSpPr/>
          <p:nvPr/>
        </p:nvSpPr>
        <p:spPr>
          <a:xfrm>
            <a:off x="7818120" y="914400"/>
            <a:ext cx="457200" cy="457200"/>
          </a:xfrm>
          <a:prstGeom prst="ellipse">
            <a:avLst/>
          </a:prstGeom>
          <a:solidFill>
            <a:srgbClr val="FE3B1F"/>
          </a:solidFill>
          <a:ln/>
        </p:spPr>
      </p:sp>
      <p:sp>
        <p:nvSpPr>
          <p:cNvPr id="23" name="Text 20"/>
          <p:cNvSpPr/>
          <p:nvPr/>
        </p:nvSpPr>
        <p:spPr>
          <a:xfrm>
            <a:off x="7818120" y="978408"/>
            <a:ext cx="45720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4" name="Shape 21"/>
          <p:cNvSpPr/>
          <p:nvPr/>
        </p:nvSpPr>
        <p:spPr>
          <a:xfrm>
            <a:off x="7040880" y="1508760"/>
            <a:ext cx="2011680" cy="1828800"/>
          </a:xfrm>
          <a:prstGeom prst="roundRect">
            <a:avLst>
              <a:gd name="adj" fmla="val 5000"/>
            </a:avLst>
          </a:prstGeom>
          <a:solidFill>
            <a:srgbClr val="FFFFFF"/>
          </a:solidFill>
          <a:ln/>
          <a:effectLst>
            <a:outerShdw sx="100000" sy="100000" kx="0" ky="0" algn="bl" rotWithShape="0" blurRad="76200" dist="38100" dir="2700000">
              <a:srgbClr val="000000">
                <a:alpha val="10000"/>
              </a:srgbClr>
            </a:outerShdw>
          </a:effectLst>
        </p:spPr>
      </p:sp>
      <p:sp>
        <p:nvSpPr>
          <p:cNvPr id="25" name="Text 22"/>
          <p:cNvSpPr/>
          <p:nvPr/>
        </p:nvSpPr>
        <p:spPr>
          <a:xfrm>
            <a:off x="7132320" y="1645920"/>
            <a:ext cx="1828800" cy="365760"/>
          </a:xfrm>
          <a:prstGeom prst="rect">
            <a:avLst/>
          </a:prstGeom>
          <a:noFill/>
          <a:ln/>
        </p:spPr>
        <p:txBody>
          <a:bodyPr wrap="square" rtlCol="0" anchor="ctr"/>
          <a:lstStyle/>
          <a:p>
            <a:pPr algn="ctr" indent="0" marL="0">
              <a:buNone/>
            </a:pPr>
            <a:r>
              <a:rPr lang="en-US" sz="1200" b="1" dirty="0">
                <a:solidFill>
                  <a:srgbClr val="131415"/>
                </a:solidFill>
                <a:latin typeface="Arial" pitchFamily="34" charset="0"/>
                <a:ea typeface="Arial" pitchFamily="34" charset="-122"/>
                <a:cs typeface="Arial" pitchFamily="34" charset="-120"/>
              </a:rPr>
              <a:t>Optimalisatie</a:t>
            </a:r>
            <a:endParaRPr lang="en-US" sz="1200" dirty="0"/>
          </a:p>
        </p:txBody>
      </p:sp>
      <p:sp>
        <p:nvSpPr>
          <p:cNvPr id="26" name="Text 23"/>
          <p:cNvSpPr/>
          <p:nvPr/>
        </p:nvSpPr>
        <p:spPr>
          <a:xfrm>
            <a:off x="7132320" y="2011680"/>
            <a:ext cx="1828800" cy="731520"/>
          </a:xfrm>
          <a:prstGeom prst="rect">
            <a:avLst/>
          </a:prstGeom>
          <a:noFill/>
          <a:ln/>
        </p:spPr>
        <p:txBody>
          <a:bodyPr wrap="square" rtlCol="0" anchor="ctr"/>
          <a:lstStyle/>
          <a:p>
            <a:pPr algn="ctr" indent="0" marL="0">
              <a:buNone/>
            </a:pPr>
            <a:r>
              <a:rPr lang="en-US" sz="900" dirty="0">
                <a:solidFill>
                  <a:srgbClr val="6B7280"/>
                </a:solidFill>
                <a:latin typeface="Arial" pitchFamily="34" charset="0"/>
                <a:ea typeface="Arial" pitchFamily="34" charset="-122"/>
                <a:cs typeface="Arial" pitchFamily="34" charset="-120"/>
              </a:rPr>
              <a:t>Fine-tuning op basis van resultaten</a:t>
            </a:r>
            <a:endParaRPr lang="en-US" sz="900" dirty="0"/>
          </a:p>
        </p:txBody>
      </p:sp>
      <p:sp>
        <p:nvSpPr>
          <p:cNvPr id="27" name="Text 24"/>
          <p:cNvSpPr/>
          <p:nvPr/>
        </p:nvSpPr>
        <p:spPr>
          <a:xfrm>
            <a:off x="7132320" y="2834640"/>
            <a:ext cx="1828800" cy="320040"/>
          </a:xfrm>
          <a:prstGeom prst="rect">
            <a:avLst/>
          </a:prstGeom>
          <a:noFill/>
          <a:ln/>
        </p:spPr>
        <p:txBody>
          <a:bodyPr wrap="square" rtlCol="0" anchor="ctr"/>
          <a:lstStyle/>
          <a:p>
            <a:pPr algn="ctr" indent="0" marL="0">
              <a:buNone/>
            </a:pPr>
            <a:r>
              <a:rPr lang="en-US" sz="1000" b="1" dirty="0">
                <a:solidFill>
                  <a:srgbClr val="FE3B1F"/>
                </a:solidFill>
                <a:latin typeface="Arial" pitchFamily="34" charset="0"/>
                <a:ea typeface="Arial" pitchFamily="34" charset="-122"/>
                <a:cs typeface="Arial" pitchFamily="34" charset="-120"/>
              </a:rPr>
              <a:t>Doorlopend</a:t>
            </a:r>
            <a:endParaRPr lang="en-US" sz="1000" dirty="0"/>
          </a:p>
        </p:txBody>
      </p:sp>
      <p:sp>
        <p:nvSpPr>
          <p:cNvPr id="28" name="Text 25"/>
          <p:cNvSpPr/>
          <p:nvPr/>
        </p:nvSpPr>
        <p:spPr>
          <a:xfrm>
            <a:off x="457200" y="3657600"/>
            <a:ext cx="8229600" cy="274320"/>
          </a:xfrm>
          <a:prstGeom prst="rect">
            <a:avLst/>
          </a:prstGeom>
          <a:noFill/>
          <a:ln/>
        </p:spPr>
        <p:txBody>
          <a:bodyPr wrap="square" rtlCol="0" anchor="ctr"/>
          <a:lstStyle/>
          <a:p>
            <a:pPr algn="ctr" indent="0" marL="0">
              <a:buNone/>
            </a:pPr>
            <a:r>
              <a:rPr lang="en-US" sz="1100" i="1" dirty="0">
                <a:solidFill>
                  <a:srgbClr val="6B7280"/>
                </a:solidFill>
                <a:latin typeface="Arial" pitchFamily="34" charset="0"/>
                <a:ea typeface="Arial" pitchFamily="34" charset="-122"/>
                <a:cs typeface="Arial" pitchFamily="34" charset="-120"/>
              </a:rPr>
              <a:t>Geen langdurige implementatie - direct aan de slag</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www\cost-of-retreival-reducer\tmp\presentation\slides\brightlot-dark.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137160" cy="5143500"/>
          </a:xfrm>
          <a:prstGeom prst="rect">
            <a:avLst/>
          </a:prstGeom>
          <a:solidFill>
            <a:srgbClr val="FE3B1F"/>
          </a:solidFill>
          <a:ln/>
        </p:spPr>
      </p:sp>
      <p:sp>
        <p:nvSpPr>
          <p:cNvPr id="4" name="Text 1"/>
          <p:cNvSpPr/>
          <p:nvPr/>
        </p:nvSpPr>
        <p:spPr>
          <a:xfrm>
            <a:off x="457200" y="182880"/>
            <a:ext cx="8229600" cy="457200"/>
          </a:xfrm>
          <a:prstGeom prst="rect">
            <a:avLst/>
          </a:prstGeom>
          <a:noFill/>
          <a:ln/>
        </p:spPr>
        <p:txBody>
          <a:bodyPr wrap="square" rtlCol="0" anchor="ctr"/>
          <a:lstStyle/>
          <a:p>
            <a:pPr algn="ctr" indent="0" marL="0">
              <a:buNone/>
            </a:pPr>
            <a:r>
              <a:rPr lang="en-US" sz="2600" b="1" dirty="0">
                <a:solidFill>
                  <a:srgbClr val="FE3B1F"/>
                </a:solidFill>
                <a:latin typeface="Arial" pitchFamily="34" charset="0"/>
                <a:ea typeface="Arial" pitchFamily="34" charset="-122"/>
                <a:cs typeface="Arial" pitchFamily="34" charset="-120"/>
              </a:rPr>
              <a:t>INVESTERING &amp; WAARDE</a:t>
            </a:r>
            <a:endParaRPr lang="en-US" sz="2600" dirty="0"/>
          </a:p>
        </p:txBody>
      </p:sp>
      <p:sp>
        <p:nvSpPr>
          <p:cNvPr id="5" name="Shape 2"/>
          <p:cNvSpPr/>
          <p:nvPr/>
        </p:nvSpPr>
        <p:spPr>
          <a:xfrm>
            <a:off x="1371600" y="822960"/>
            <a:ext cx="3200400" cy="3291840"/>
          </a:xfrm>
          <a:prstGeom prst="roundRect">
            <a:avLst>
              <a:gd name="adj" fmla="val 3429"/>
            </a:avLst>
          </a:prstGeom>
          <a:solidFill>
            <a:srgbClr val="243B42"/>
          </a:solidFill>
          <a:ln w="25400">
            <a:solidFill>
              <a:srgbClr val="FE3B1F"/>
            </a:solidFill>
            <a:prstDash val="solid"/>
          </a:ln>
        </p:spPr>
      </p:sp>
      <p:sp>
        <p:nvSpPr>
          <p:cNvPr id="6" name="Text 3"/>
          <p:cNvSpPr/>
          <p:nvPr/>
        </p:nvSpPr>
        <p:spPr>
          <a:xfrm>
            <a:off x="1371600" y="1005840"/>
            <a:ext cx="320040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Professional</a:t>
            </a:r>
            <a:endParaRPr lang="en-US" sz="1400" dirty="0"/>
          </a:p>
        </p:txBody>
      </p:sp>
      <p:sp>
        <p:nvSpPr>
          <p:cNvPr id="7" name="Text 4"/>
          <p:cNvSpPr/>
          <p:nvPr/>
        </p:nvSpPr>
        <p:spPr>
          <a:xfrm>
            <a:off x="1371600" y="1371600"/>
            <a:ext cx="3200400" cy="457200"/>
          </a:xfrm>
          <a:prstGeom prst="rect">
            <a:avLst/>
          </a:prstGeom>
          <a:noFill/>
          <a:ln/>
        </p:spPr>
        <p:txBody>
          <a:bodyPr wrap="square" rtlCol="0" anchor="ctr"/>
          <a:lstStyle/>
          <a:p>
            <a:pPr algn="ctr" indent="0" marL="0">
              <a:buNone/>
            </a:pPr>
            <a:r>
              <a:rPr lang="en-US" sz="2200" b="1" dirty="0">
                <a:solidFill>
                  <a:srgbClr val="FE3B1F"/>
                </a:solidFill>
                <a:latin typeface="Arial" pitchFamily="34" charset="0"/>
                <a:ea typeface="Arial" pitchFamily="34" charset="-122"/>
                <a:cs typeface="Arial" pitchFamily="34" charset="-120"/>
              </a:rPr>
              <a:t>EUR 49/maand</a:t>
            </a:r>
            <a:endParaRPr lang="en-US" sz="2200" dirty="0"/>
          </a:p>
        </p:txBody>
      </p:sp>
      <p:sp>
        <p:nvSpPr>
          <p:cNvPr id="8" name="Text 5"/>
          <p:cNvSpPr/>
          <p:nvPr/>
        </p:nvSpPr>
        <p:spPr>
          <a:xfrm>
            <a:off x="1645920" y="2011680"/>
            <a:ext cx="2651760" cy="32004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Onbeperkt projecten</a:t>
            </a:r>
            <a:endParaRPr lang="en-US" sz="1000" dirty="0"/>
          </a:p>
        </p:txBody>
      </p:sp>
      <p:sp>
        <p:nvSpPr>
          <p:cNvPr id="9" name="Text 6"/>
          <p:cNvSpPr/>
          <p:nvPr/>
        </p:nvSpPr>
        <p:spPr>
          <a:xfrm>
            <a:off x="1645920" y="2377440"/>
            <a:ext cx="2651760" cy="32004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Volledige 9-pass systeem</a:t>
            </a:r>
            <a:endParaRPr lang="en-US" sz="1000" dirty="0"/>
          </a:p>
        </p:txBody>
      </p:sp>
      <p:sp>
        <p:nvSpPr>
          <p:cNvPr id="10" name="Text 7"/>
          <p:cNvSpPr/>
          <p:nvPr/>
        </p:nvSpPr>
        <p:spPr>
          <a:xfrm>
            <a:off x="1645920" y="2743200"/>
            <a:ext cx="2651760" cy="32004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WordPress integratie</a:t>
            </a:r>
            <a:endParaRPr lang="en-US" sz="1000" dirty="0"/>
          </a:p>
        </p:txBody>
      </p:sp>
      <p:sp>
        <p:nvSpPr>
          <p:cNvPr id="11" name="Text 8"/>
          <p:cNvSpPr/>
          <p:nvPr/>
        </p:nvSpPr>
        <p:spPr>
          <a:xfrm>
            <a:off x="1645920" y="3108960"/>
            <a:ext cx="2651760" cy="32004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+ 129+ kwaliteitsregels</a:t>
            </a:r>
            <a:endParaRPr lang="en-US" sz="1000" dirty="0"/>
          </a:p>
        </p:txBody>
      </p:sp>
      <p:sp>
        <p:nvSpPr>
          <p:cNvPr id="12" name="Text 9"/>
          <p:cNvSpPr/>
          <p:nvPr/>
        </p:nvSpPr>
        <p:spPr>
          <a:xfrm>
            <a:off x="1645920" y="3474720"/>
            <a:ext cx="2651760" cy="320040"/>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Priority support</a:t>
            </a:r>
            <a:endParaRPr lang="en-US" sz="1000" dirty="0"/>
          </a:p>
        </p:txBody>
      </p:sp>
      <p:sp>
        <p:nvSpPr>
          <p:cNvPr id="13" name="Shape 10"/>
          <p:cNvSpPr/>
          <p:nvPr/>
        </p:nvSpPr>
        <p:spPr>
          <a:xfrm>
            <a:off x="5029200" y="822960"/>
            <a:ext cx="3200400" cy="3291840"/>
          </a:xfrm>
          <a:prstGeom prst="roundRect">
            <a:avLst>
              <a:gd name="adj" fmla="val 3429"/>
            </a:avLst>
          </a:prstGeom>
          <a:solidFill>
            <a:srgbClr val="FE3B1F"/>
          </a:solidFill>
          <a:ln/>
        </p:spPr>
      </p:sp>
      <p:sp>
        <p:nvSpPr>
          <p:cNvPr id="14" name="Text 11"/>
          <p:cNvSpPr/>
          <p:nvPr/>
        </p:nvSpPr>
        <p:spPr>
          <a:xfrm>
            <a:off x="5029200" y="1005840"/>
            <a:ext cx="320040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Enterprise</a:t>
            </a:r>
            <a:endParaRPr lang="en-US" sz="1400" dirty="0"/>
          </a:p>
        </p:txBody>
      </p:sp>
      <p:sp>
        <p:nvSpPr>
          <p:cNvPr id="15" name="Text 12"/>
          <p:cNvSpPr/>
          <p:nvPr/>
        </p:nvSpPr>
        <p:spPr>
          <a:xfrm>
            <a:off x="5029200" y="1371600"/>
            <a:ext cx="3200400" cy="45720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Op maat</a:t>
            </a:r>
            <a:endParaRPr lang="en-US" sz="2200" dirty="0"/>
          </a:p>
        </p:txBody>
      </p:sp>
      <p:sp>
        <p:nvSpPr>
          <p:cNvPr id="16" name="Text 13"/>
          <p:cNvSpPr/>
          <p:nvPr/>
        </p:nvSpPr>
        <p:spPr>
          <a:xfrm>
            <a:off x="5303520" y="2011680"/>
            <a:ext cx="2651760" cy="320040"/>
          </a:xfrm>
          <a:prstGeom prst="rect">
            <a:avLst/>
          </a:prstGeom>
          <a:noFill/>
          <a:ln/>
        </p:spPr>
        <p:txBody>
          <a:bodyPr wrap="square" rtlCol="0" anchor="ctr"/>
          <a:lstStyle/>
          <a:p>
            <a:pPr indent="0" marL="0">
              <a:buNone/>
            </a:pPr>
            <a:r>
              <a:rPr lang="en-US" sz="1000" dirty="0">
                <a:solidFill>
                  <a:srgbClr val="FFE0DC"/>
                </a:solidFill>
                <a:latin typeface="Arial" pitchFamily="34" charset="0"/>
                <a:ea typeface="Arial" pitchFamily="34" charset="-122"/>
                <a:cs typeface="Arial" pitchFamily="34" charset="-120"/>
              </a:rPr>
              <a:t>+ Team samenwerking</a:t>
            </a:r>
            <a:endParaRPr lang="en-US" sz="1000" dirty="0"/>
          </a:p>
        </p:txBody>
      </p:sp>
      <p:sp>
        <p:nvSpPr>
          <p:cNvPr id="17" name="Text 14"/>
          <p:cNvSpPr/>
          <p:nvPr/>
        </p:nvSpPr>
        <p:spPr>
          <a:xfrm>
            <a:off x="5303520" y="2377440"/>
            <a:ext cx="2651760" cy="320040"/>
          </a:xfrm>
          <a:prstGeom prst="rect">
            <a:avLst/>
          </a:prstGeom>
          <a:noFill/>
          <a:ln/>
        </p:spPr>
        <p:txBody>
          <a:bodyPr wrap="square" rtlCol="0" anchor="ctr"/>
          <a:lstStyle/>
          <a:p>
            <a:pPr indent="0" marL="0">
              <a:buNone/>
            </a:pPr>
            <a:r>
              <a:rPr lang="en-US" sz="1000" dirty="0">
                <a:solidFill>
                  <a:srgbClr val="FFE0DC"/>
                </a:solidFill>
                <a:latin typeface="Arial" pitchFamily="34" charset="0"/>
                <a:ea typeface="Arial" pitchFamily="34" charset="-122"/>
                <a:cs typeface="Arial" pitchFamily="34" charset="-120"/>
              </a:rPr>
              <a:t>+ Whitelabel opties</a:t>
            </a:r>
            <a:endParaRPr lang="en-US" sz="1000" dirty="0"/>
          </a:p>
        </p:txBody>
      </p:sp>
      <p:sp>
        <p:nvSpPr>
          <p:cNvPr id="18" name="Text 15"/>
          <p:cNvSpPr/>
          <p:nvPr/>
        </p:nvSpPr>
        <p:spPr>
          <a:xfrm>
            <a:off x="5303520" y="2743200"/>
            <a:ext cx="2651760" cy="320040"/>
          </a:xfrm>
          <a:prstGeom prst="rect">
            <a:avLst/>
          </a:prstGeom>
          <a:noFill/>
          <a:ln/>
        </p:spPr>
        <p:txBody>
          <a:bodyPr wrap="square" rtlCol="0" anchor="ctr"/>
          <a:lstStyle/>
          <a:p>
            <a:pPr indent="0" marL="0">
              <a:buNone/>
            </a:pPr>
            <a:r>
              <a:rPr lang="en-US" sz="1000" dirty="0">
                <a:solidFill>
                  <a:srgbClr val="FFE0DC"/>
                </a:solidFill>
                <a:latin typeface="Arial" pitchFamily="34" charset="0"/>
                <a:ea typeface="Arial" pitchFamily="34" charset="-122"/>
                <a:cs typeface="Arial" pitchFamily="34" charset="-120"/>
              </a:rPr>
              <a:t>+ Custom integraties</a:t>
            </a:r>
            <a:endParaRPr lang="en-US" sz="1000" dirty="0"/>
          </a:p>
        </p:txBody>
      </p:sp>
      <p:sp>
        <p:nvSpPr>
          <p:cNvPr id="19" name="Text 16"/>
          <p:cNvSpPr/>
          <p:nvPr/>
        </p:nvSpPr>
        <p:spPr>
          <a:xfrm>
            <a:off x="5303520" y="3108960"/>
            <a:ext cx="2651760" cy="320040"/>
          </a:xfrm>
          <a:prstGeom prst="rect">
            <a:avLst/>
          </a:prstGeom>
          <a:noFill/>
          <a:ln/>
        </p:spPr>
        <p:txBody>
          <a:bodyPr wrap="square" rtlCol="0" anchor="ctr"/>
          <a:lstStyle/>
          <a:p>
            <a:pPr indent="0" marL="0">
              <a:buNone/>
            </a:pPr>
            <a:r>
              <a:rPr lang="en-US" sz="1000" dirty="0">
                <a:solidFill>
                  <a:srgbClr val="FFE0DC"/>
                </a:solidFill>
                <a:latin typeface="Arial" pitchFamily="34" charset="0"/>
                <a:ea typeface="Arial" pitchFamily="34" charset="-122"/>
                <a:cs typeface="Arial" pitchFamily="34" charset="-120"/>
              </a:rPr>
              <a:t>+ Dedicated support</a:t>
            </a:r>
            <a:endParaRPr lang="en-US" sz="1000" dirty="0"/>
          </a:p>
        </p:txBody>
      </p:sp>
      <p:sp>
        <p:nvSpPr>
          <p:cNvPr id="20" name="Text 17"/>
          <p:cNvSpPr/>
          <p:nvPr/>
        </p:nvSpPr>
        <p:spPr>
          <a:xfrm>
            <a:off x="5303520" y="3474720"/>
            <a:ext cx="2651760" cy="320040"/>
          </a:xfrm>
          <a:prstGeom prst="rect">
            <a:avLst/>
          </a:prstGeom>
          <a:noFill/>
          <a:ln/>
        </p:spPr>
        <p:txBody>
          <a:bodyPr wrap="square" rtlCol="0" anchor="ctr"/>
          <a:lstStyle/>
          <a:p>
            <a:pPr indent="0" marL="0">
              <a:buNone/>
            </a:pPr>
            <a:r>
              <a:rPr lang="en-US" sz="1000" dirty="0">
                <a:solidFill>
                  <a:srgbClr val="FFE0DC"/>
                </a:solidFill>
                <a:latin typeface="Arial" pitchFamily="34" charset="0"/>
                <a:ea typeface="Arial" pitchFamily="34" charset="-122"/>
                <a:cs typeface="Arial" pitchFamily="34" charset="-120"/>
              </a:rPr>
              <a:t>+ Volume korting</a:t>
            </a:r>
            <a:endParaRPr lang="en-US" sz="1000" dirty="0"/>
          </a:p>
        </p:txBody>
      </p:sp>
      <p:sp>
        <p:nvSpPr>
          <p:cNvPr id="21" name="Text 18"/>
          <p:cNvSpPr/>
          <p:nvPr/>
        </p:nvSpPr>
        <p:spPr>
          <a:xfrm>
            <a:off x="457200" y="4297680"/>
            <a:ext cx="8229600" cy="274320"/>
          </a:xfrm>
          <a:prstGeom prst="rect">
            <a:avLst/>
          </a:prstGeom>
          <a:noFill/>
          <a:ln/>
        </p:spPr>
        <p:txBody>
          <a:bodyPr wrap="square" rtlCol="0" anchor="ctr"/>
          <a:lstStyle/>
          <a:p>
            <a:pPr algn="ctr" indent="0" marL="0">
              <a:buNone/>
            </a:pPr>
            <a:r>
              <a:rPr lang="en-US" sz="1100" dirty="0">
                <a:solidFill>
                  <a:srgbClr val="10B981"/>
                </a:solidFill>
                <a:latin typeface="Arial" pitchFamily="34" charset="0"/>
                <a:ea typeface="Arial" pitchFamily="34" charset="-122"/>
                <a:cs typeface="Arial" pitchFamily="34" charset="-120"/>
              </a:rPr>
              <a:t>+ Eigen AI API keys = geen verborgen kosten, pay-as-you-go</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www\cost-of-retreival-reducer\tmp\presentation\slides\brightlot-accent.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57200" y="1097280"/>
            <a:ext cx="8229600" cy="640080"/>
          </a:xfrm>
          <a:prstGeom prst="rect">
            <a:avLst/>
          </a:prstGeom>
          <a:noFill/>
          <a:ln/>
        </p:spPr>
        <p:txBody>
          <a:bodyPr wrap="square" rtlCol="0" anchor="ctr"/>
          <a:lstStyle/>
          <a:p>
            <a:pPr algn="ctr" indent="0" marL="0">
              <a:buNone/>
            </a:pPr>
            <a:r>
              <a:rPr lang="en-US" sz="3800" b="1" dirty="0">
                <a:solidFill>
                  <a:srgbClr val="FFFFFF"/>
                </a:solidFill>
                <a:latin typeface="Arial" pitchFamily="34" charset="0"/>
                <a:ea typeface="Arial" pitchFamily="34" charset="-122"/>
                <a:cs typeface="Arial" pitchFamily="34" charset="-120"/>
              </a:rPr>
              <a:t>KLAAR OM TE STARTEN?</a:t>
            </a:r>
            <a:endParaRPr lang="en-US" sz="3800" dirty="0"/>
          </a:p>
        </p:txBody>
      </p:sp>
      <p:sp>
        <p:nvSpPr>
          <p:cNvPr id="4" name="Shape 1"/>
          <p:cNvSpPr/>
          <p:nvPr/>
        </p:nvSpPr>
        <p:spPr>
          <a:xfrm>
            <a:off x="3200400" y="1828800"/>
            <a:ext cx="2743200" cy="54864"/>
          </a:xfrm>
          <a:prstGeom prst="rect">
            <a:avLst/>
          </a:prstGeom>
          <a:solidFill>
            <a:srgbClr val="FFFFFF"/>
          </a:solidFill>
          <a:ln/>
        </p:spPr>
      </p:sp>
      <p:sp>
        <p:nvSpPr>
          <p:cNvPr id="5" name="Text 2"/>
          <p:cNvSpPr/>
          <p:nvPr/>
        </p:nvSpPr>
        <p:spPr>
          <a:xfrm>
            <a:off x="457200" y="2103120"/>
            <a:ext cx="8229600" cy="731520"/>
          </a:xfrm>
          <a:prstGeom prst="rect">
            <a:avLst/>
          </a:prstGeom>
          <a:noFill/>
          <a:ln/>
        </p:spPr>
        <p:txBody>
          <a:bodyPr wrap="square" rtlCol="0" anchor="ctr"/>
          <a:lstStyle/>
          <a:p>
            <a:pPr algn="ctr" indent="0" marL="0">
              <a:buNone/>
            </a:pPr>
            <a:r>
              <a:rPr lang="en-US" sz="1600" dirty="0">
                <a:solidFill>
                  <a:srgbClr val="FFFFFF"/>
                </a:solidFill>
                <a:latin typeface="Arial" pitchFamily="34" charset="0"/>
                <a:ea typeface="Arial" pitchFamily="34" charset="-122"/>
                <a:cs typeface="Arial" pitchFamily="34" charset="-120"/>
              </a:rPr>
              <a:t>Laat ons zien wat Holistic SEO Workbench</a:t>
            </a:r>
            <a:endParaRPr lang="en-US" sz="1600" dirty="0"/>
          </a:p>
          <a:p>
            <a:pPr algn="ctr" indent="0" marL="0">
              <a:buNone/>
            </a:pPr>
            <a:r>
              <a:rPr lang="en-US" sz="1600" dirty="0">
                <a:solidFill>
                  <a:srgbClr val="FFFFFF"/>
                </a:solidFill>
                <a:latin typeface="Arial" pitchFamily="34" charset="0"/>
                <a:ea typeface="Arial" pitchFamily="34" charset="-122"/>
                <a:cs typeface="Arial" pitchFamily="34" charset="-120"/>
              </a:rPr>
              <a:t>kan betekenen voor Brightlot</a:t>
            </a:r>
            <a:endParaRPr lang="en-US" sz="1600" dirty="0"/>
          </a:p>
        </p:txBody>
      </p:sp>
      <p:sp>
        <p:nvSpPr>
          <p:cNvPr id="6" name="Shape 3"/>
          <p:cNvSpPr/>
          <p:nvPr/>
        </p:nvSpPr>
        <p:spPr>
          <a:xfrm>
            <a:off x="1371600" y="3017520"/>
            <a:ext cx="2926080" cy="914400"/>
          </a:xfrm>
          <a:prstGeom prst="roundRect">
            <a:avLst>
              <a:gd name="adj" fmla="val 10000"/>
            </a:avLst>
          </a:prstGeom>
          <a:solidFill>
            <a:srgbClr val="FFFFFF"/>
          </a:solidFill>
          <a:ln/>
        </p:spPr>
      </p:sp>
      <p:sp>
        <p:nvSpPr>
          <p:cNvPr id="7" name="Text 4"/>
          <p:cNvSpPr/>
          <p:nvPr/>
        </p:nvSpPr>
        <p:spPr>
          <a:xfrm>
            <a:off x="1371600" y="3246120"/>
            <a:ext cx="2926080" cy="457200"/>
          </a:xfrm>
          <a:prstGeom prst="rect">
            <a:avLst/>
          </a:prstGeom>
          <a:noFill/>
          <a:ln/>
        </p:spPr>
        <p:txBody>
          <a:bodyPr wrap="square" rtlCol="0" anchor="ctr"/>
          <a:lstStyle/>
          <a:p>
            <a:pPr algn="ctr" indent="0" marL="0">
              <a:buNone/>
            </a:pPr>
            <a:r>
              <a:rPr lang="en-US" sz="1300" b="1" dirty="0">
                <a:solidFill>
                  <a:srgbClr val="FE3B1F"/>
                </a:solidFill>
                <a:latin typeface="Arial" pitchFamily="34" charset="0"/>
                <a:ea typeface="Arial" pitchFamily="34" charset="-122"/>
                <a:cs typeface="Arial" pitchFamily="34" charset="-120"/>
              </a:rPr>
              <a:t>DEMO AANVRAGEN</a:t>
            </a:r>
            <a:endParaRPr lang="en-US" sz="1300" dirty="0"/>
          </a:p>
        </p:txBody>
      </p:sp>
      <p:sp>
        <p:nvSpPr>
          <p:cNvPr id="8" name="Shape 5"/>
          <p:cNvSpPr/>
          <p:nvPr/>
        </p:nvSpPr>
        <p:spPr>
          <a:xfrm>
            <a:off x="4846320" y="3017520"/>
            <a:ext cx="2926080" cy="914400"/>
          </a:xfrm>
          <a:prstGeom prst="roundRect">
            <a:avLst>
              <a:gd name="adj" fmla="val 10000"/>
            </a:avLst>
          </a:prstGeom>
          <a:solidFill>
            <a:srgbClr val="FFFFFF">
              <a:alpha val="80000"/>
            </a:srgbClr>
          </a:solidFill>
          <a:ln w="25400">
            <a:solidFill>
              <a:srgbClr val="FFFFFF"/>
            </a:solidFill>
            <a:prstDash val="solid"/>
          </a:ln>
        </p:spPr>
      </p:sp>
      <p:sp>
        <p:nvSpPr>
          <p:cNvPr id="9" name="Text 6"/>
          <p:cNvSpPr/>
          <p:nvPr/>
        </p:nvSpPr>
        <p:spPr>
          <a:xfrm>
            <a:off x="4846320" y="3246120"/>
            <a:ext cx="2926080" cy="45720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GRATIS PROBEREN</a:t>
            </a:r>
            <a:endParaRPr lang="en-US" sz="1300" dirty="0"/>
          </a:p>
        </p:txBody>
      </p:sp>
      <p:sp>
        <p:nvSpPr>
          <p:cNvPr id="10" name="Text 7"/>
          <p:cNvSpPr/>
          <p:nvPr/>
        </p:nvSpPr>
        <p:spPr>
          <a:xfrm>
            <a:off x="457200" y="4206240"/>
            <a:ext cx="8229600" cy="365760"/>
          </a:xfrm>
          <a:prstGeom prst="rect">
            <a:avLst/>
          </a:prstGeom>
          <a:noFill/>
          <a:ln/>
        </p:spPr>
        <p:txBody>
          <a:bodyPr wrap="square" rtlCol="0" anchor="ctr"/>
          <a:lstStyle/>
          <a:p>
            <a:pPr algn="ctr" indent="0" marL="0">
              <a:buNone/>
            </a:pPr>
            <a:r>
              <a:rPr lang="en-US" sz="1400" dirty="0">
                <a:solidFill>
                  <a:srgbClr val="FFFFFF"/>
                </a:solidFill>
                <a:latin typeface="Arial" pitchFamily="34" charset="0"/>
                <a:ea typeface="Arial" pitchFamily="34" charset="-122"/>
                <a:cs typeface="Arial" pitchFamily="34" charset="-120"/>
              </a:rPr>
              <a:t>holistic-seo-workbench.com</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Brightlot Vastgoedmarketing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Holistic SEO Workbench - Voor Brightlot</dc:title>
  <dc:subject>PptxGenJS Presentation</dc:subject>
  <dc:creator>Holistic SEO Workbench</dc:creator>
  <cp:lastModifiedBy>Holistic SEO Workbench</cp:lastModifiedBy>
  <cp:revision>1</cp:revision>
  <dcterms:created xsi:type="dcterms:W3CDTF">2026-01-15T20:47:44Z</dcterms:created>
  <dcterms:modified xsi:type="dcterms:W3CDTF">2026-01-15T20:47:44Z</dcterms:modified>
</cp:coreProperties>
</file>